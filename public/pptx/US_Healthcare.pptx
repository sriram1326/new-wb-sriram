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(₹ Cr)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Gross Expense</c:v>
                  </c:pt>
                  <c:pt idx="1">
                    <c:v>Insurance Pay</c:v>
                  </c:pt>
                  <c:pt idx="2">
                    <c:v>Patient Pay</c:v>
                  </c:pt>
                  <c:pt idx="3">
                    <c:v>Deficit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80</c:v>
                </c:pt>
                <c:pt idx="2">
                  <c:v>25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 Payments</c:v>
                </c:pt>
              </c:strCache>
            </c:strRef>
          </c:tx>
          <c:spPr>
            <a:solidFill>
              <a:srgbClr val="1A7A4A"/>
            </a:solidFill>
            <a:ln w="38100" cap="flat">
              <a:solidFill>
                <a:srgbClr val="1A7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7A4A"/>
              </a:solidFill>
              <a:ln w="9525" cap="flat">
                <a:solidFill>
                  <a:srgbClr val="1A7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24</c:v>
                </c:pt>
                <c:pt idx="2">
                  <c:v>23</c:v>
                </c:pt>
                <c:pt idx="3">
                  <c:v>21</c:v>
                </c:pt>
                <c:pt idx="4">
                  <c:v>20</c:v>
                </c:pt>
                <c:pt idx="5">
                  <c:v>22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Insurance Payouts</c:v>
                </c:pt>
              </c:strCache>
            </c:strRef>
          </c:tx>
          <c:spPr>
            <a:solidFill>
              <a:srgbClr val="1565C0"/>
            </a:solidFill>
            <a:ln w="3810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38</c:v>
                </c:pt>
                <c:pt idx="1">
                  <c:v>38</c:v>
                </c:pt>
                <c:pt idx="2">
                  <c:v>37</c:v>
                </c:pt>
                <c:pt idx="3">
                  <c:v>38</c:v>
                </c:pt>
                <c:pt idx="4">
                  <c:v>39</c:v>
                </c:pt>
                <c:pt idx="5">
                  <c:v>38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Deficit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13</c:v>
                </c:pt>
                <c:pt idx="4">
                  <c:v>14</c:v>
                </c:pt>
                <c:pt idx="5">
                  <c:v>16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Insurance Coverage by Gender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Insurance Coverage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7B"/>
              </a:solidFill>
              <a:effectLst/>
            </c:spPr>
          </c:dPt>
          <c:dPt>
            <c:idx val="1"/>
            <c:bubble3D val="0"/>
            <c:spPr>
              <a:solidFill>
                <a:srgbClr val="6C63F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 (55%)</c:v>
                </c:pt>
                <c:pt idx="1">
                  <c:v>Male (45%)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55</c:v>
                </c:pt>
                <c:pt idx="1">
                  <c:v>45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3 States by Gross Expense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Expense (₹ Cr)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83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California</c:v>
                  </c:pt>
                  <c:pt idx="1">
                    <c:v>Texas</c:v>
                  </c:pt>
                  <c:pt idx="2">
                    <c:v>Florida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22</c:v>
                </c:pt>
                <c:pt idx="2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7BEBB"/>
                </a:solidFill>
              </a:rPr>
              <a:t>EXECUTIVE BRIEFING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 Health Care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BE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Dashboard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65760" y="2926080"/>
            <a:ext cx="41148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AC4D4"/>
                </a:solidFill>
              </a:rPr>
              <a:t>Analysis of 100,000+ Patient Records | Cost Optimization &amp; Financial Planning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Prepared for CEO Review  •  Confidential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457200"/>
            <a:ext cx="2560320" cy="2560320"/>
          </a:xfrm>
          <a:prstGeom prst="ellipse">
            <a:avLst/>
          </a:prstGeom>
          <a:solidFill>
            <a:srgbClr val="0E7C7B">
              <a:alpha val="15000"/>
            </a:srgbClr>
          </a:solidFill>
          <a:ln w="12700">
            <a:solidFill>
              <a:srgbClr val="0E7C7B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2011680"/>
            <a:ext cx="1645920" cy="1645920"/>
          </a:xfrm>
          <a:prstGeom prst="ellipse">
            <a:avLst/>
          </a:prstGeom>
          <a:solidFill>
            <a:srgbClr val="17BEBB">
              <a:alpha val="20000"/>
            </a:srgbClr>
          </a:solidFill>
          <a:ln w="12700">
            <a:solidFill>
              <a:srgbClr val="17BEBB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PERFORMANCE INDICATORS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65960" cy="2377440"/>
          </a:xfrm>
          <a:prstGeom prst="rect">
            <a:avLst/>
          </a:prstGeom>
          <a:solidFill>
            <a:srgbClr val="E3F0FB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96596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Total Gross Expense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₹120 Cr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Total healthcare cost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1965960" cy="237744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005840"/>
            <a:ext cx="1965960" cy="1097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188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Insurance Payments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42032" y="17830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₹80 Cr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542032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67% cost recovered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005840"/>
            <a:ext cx="1965960" cy="2377440"/>
          </a:xfrm>
          <a:prstGeom prst="rect">
            <a:avLst/>
          </a:prstGeom>
          <a:solidFill>
            <a:srgbClr val="E0F4F4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005840"/>
            <a:ext cx="1965960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1188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Patient Payments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8304" y="17830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₹25 Cr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718304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21% cost recovered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1005840"/>
            <a:ext cx="1965960" cy="237744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005840"/>
            <a:ext cx="196596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1188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Total Deficit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94576" y="17830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₹15 Cr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894576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12.5% coverage gap</a:t>
            </a:r>
            <a:endParaRPr lang="en-US" sz="10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74320" y="3566160"/>
          <a:ext cx="859536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TRENDS — LAST 6 MONTHS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914400"/>
            <a:ext cx="2834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0" y="914400"/>
            <a:ext cx="411480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1887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↓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92240" y="9875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Patient Payments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92240" y="1325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12% decline over 6 months — reducing recovery rate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35040" y="2103120"/>
            <a:ext cx="2834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35040" y="2103120"/>
            <a:ext cx="41148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2377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92240" y="21762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Insurance Payouts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2514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Flat — no significant change in payer contributions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3291840"/>
            <a:ext cx="2834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8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35040" y="3291840"/>
            <a:ext cx="411480" cy="10515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3566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↑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92240" y="3364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Net Deficit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92240" y="3703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Rising steadily — growing financial pressure on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GENDER &amp; REGIONAL INSIGHTS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38404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914400"/>
          <a:ext cx="4206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160520"/>
            <a:ext cx="859536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42245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🔍  Female patients show 15% higher insurance coverage than male patients.  •  California leads in expenses but demonstrates strong recovery — effective payer strategy to model.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ANALYSIS — 10% COST INCREASE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246888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19456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Current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+10% Cost Scenario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Gross Expense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₹120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₹132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+₹12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Insurance Pay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₹80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₹88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7A4A"/>
                          </a:solidFill>
                        </a:rPr>
                        <a:t>+₹8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Patient Pay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₹25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₹27.5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7A4A"/>
                          </a:solidFill>
                        </a:rPr>
                        <a:t>+₹2.5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Total Deficit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₹15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₹16.5 Cr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+₹1.5 Cr ⚠️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566160"/>
            <a:ext cx="8412480" cy="1325880"/>
          </a:xfrm>
          <a:prstGeom prst="rect">
            <a:avLst/>
          </a:prstGeom>
          <a:solidFill>
            <a:srgbClr val="FFF8E1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3566160"/>
            <a:ext cx="109728" cy="13258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657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CEO Insight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4005072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 10% cost rise would push deficit to ₹16.5 Cr. Without strengthening payer agreements or patient recovery programs, the financial gap will widen. Proactive action is required before the next fiscal review.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Negotiate Higher Insurance Payouts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Focus on states with high deficits — Texas and Florida. Engage payer networks to renegotiate reimbursement terms and close the coverage gap.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416052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14300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Improve Patient Payment Recovery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Introduce flexible payment plans and early-payment discounts. Reduce outstanding balances through automated billing reminders.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83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4160520" cy="914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154680"/>
            <a:ext cx="502920" cy="50292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1729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Control Rising Costs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749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Audit high-cost procedures and suppliers. Identify operational inefficiencies and renegotiate vendor contracts.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71800"/>
            <a:ext cx="4160520" cy="914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154680"/>
            <a:ext cx="502920" cy="5029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31729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Deploy Real-Time Monitoring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749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Activate dashboards with automated alerts for deficit spikes and payment delays. Enable proactive intervention before issues escalate.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"/>
            <a:ext cx="3474720" cy="3474720"/>
          </a:xfrm>
          <a:prstGeom prst="ellipse">
            <a:avLst/>
          </a:prstGeom>
          <a:solidFill>
            <a:srgbClr val="0E7C7B">
              <a:alpha val="12000"/>
            </a:srgbClr>
          </a:solidFill>
          <a:ln w="12700">
            <a:solidFill>
              <a:srgbClr val="0E7C7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286000"/>
            <a:ext cx="2103120" cy="2103120"/>
          </a:xfrm>
          <a:prstGeom prst="ellipse">
            <a:avLst/>
          </a:prstGeom>
          <a:solidFill>
            <a:srgbClr val="17BEBB">
              <a:alpha val="17000"/>
            </a:srgbClr>
          </a:solidFill>
          <a:ln w="12700">
            <a:solidFill>
              <a:srgbClr val="17BEBB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7BEBB"/>
                </a:solidFill>
              </a:rPr>
              <a:t>CONCLUSION &amp; NEXT STEPS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01168" cy="201168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727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8E4"/>
                </a:solidFill>
              </a:rPr>
              <a:t>Healthcare costs are rising steadily — deficit is growing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75688"/>
            <a:ext cx="201168" cy="201168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04825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8E4"/>
                </a:solidFill>
              </a:rPr>
              <a:t>Patient payments declined 12% — recovery must be strengthened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51176"/>
            <a:ext cx="201168" cy="201168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2374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8E4"/>
                </a:solidFill>
              </a:rPr>
              <a:t>Insurance payouts remain flat — renegotiation is critical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26664"/>
            <a:ext cx="201168" cy="201168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9992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8E4"/>
                </a:solidFill>
              </a:rPr>
              <a:t>10% cost rise would push deficit to ₹16.5 Cr without intervention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611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BEBB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C4D4"/>
                </a:solidFill>
              </a:rPr>
              <a:t>Implement recommendations  •  Negotiate payer agreements  •  Activate real-time deficit monitoring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005072"/>
            <a:ext cx="50292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3A5A6A"/>
                </a:solidFill>
              </a:rPr>
              <a:t>CONFIDENTIAL  •  FOR CEO REVIEW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Health Care Dashboard - Executive Summary</dc:title>
  <dc:subject>PptxGenJS Presentation</dc:subject>
  <dc:creator>PptxGenJS</dc:creator>
  <cp:lastModifiedBy>PptxGenJS</cp:lastModifiedBy>
  <cp:revision>1</cp:revision>
  <dcterms:created xsi:type="dcterms:W3CDTF">2026-02-18T09:51:29Z</dcterms:created>
  <dcterms:modified xsi:type="dcterms:W3CDTF">2026-02-18T09:51:29Z</dcterms:modified>
</cp:coreProperties>
</file>