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Amount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Amount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In-Store</c:v>
                  </c:pt>
                  <c:pt idx="1">
                    <c:v>Online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52053</c:v>
                </c:pt>
                <c:pt idx="1">
                  <c:v>54338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Amount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Amount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East</c:v>
                  </c:pt>
                  <c:pt idx="1">
                    <c:v>South</c:v>
                  </c:pt>
                  <c:pt idx="2">
                    <c:v>West</c:v>
                  </c:pt>
                  <c:pt idx="3">
                    <c:v>North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23089</c:v>
                </c:pt>
                <c:pt idx="1">
                  <c:v>27077</c:v>
                </c:pt>
                <c:pt idx="2">
                  <c:v>27402</c:v>
                </c:pt>
                <c:pt idx="3">
                  <c:v>28149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Amount by Product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Amount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Product_C</c:v>
                  </c:pt>
                  <c:pt idx="1">
                    <c:v>Product_D</c:v>
                  </c:pt>
                  <c:pt idx="2">
                    <c:v>Product_A</c:v>
                  </c:pt>
                  <c:pt idx="3">
                    <c:v>Product_B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25099</c:v>
                </c:pt>
                <c:pt idx="1">
                  <c:v>25571</c:v>
                </c:pt>
                <c:pt idx="2">
                  <c:v>26275</c:v>
                </c:pt>
                <c:pt idx="3">
                  <c:v>28628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Amount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Amount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16–24</c:v>
                  </c:pt>
                  <c:pt idx="1">
                    <c:v>24–32</c:v>
                  </c:pt>
                  <c:pt idx="2">
                    <c:v>32–40</c:v>
                  </c:pt>
                  <c:pt idx="3">
                    <c:v>40–48</c:v>
                  </c:pt>
                  <c:pt idx="4">
                    <c:v>48–56</c:v>
                  </c:pt>
                  <c:pt idx="5">
                    <c:v>56–64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14786</c:v>
                </c:pt>
                <c:pt idx="1">
                  <c:v>16971</c:v>
                </c:pt>
                <c:pt idx="2">
                  <c:v>16425</c:v>
                </c:pt>
                <c:pt idx="3">
                  <c:v>19395</c:v>
                </c:pt>
                <c:pt idx="4">
                  <c:v>16095</c:v>
                </c:pt>
                <c:pt idx="5">
                  <c:v>21764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Distribution by Gender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 (37%)</c:v>
                </c:pt>
                <c:pt idx="1">
                  <c:v>Female (34%)</c:v>
                </c:pt>
                <c:pt idx="2">
                  <c:v>Other (29%)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38917</c:v>
                </c:pt>
                <c:pt idx="1">
                  <c:v>36155</c:v>
                </c:pt>
                <c:pt idx="2">
                  <c:v>29984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Sales Trend – Online vs In-Store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3800</c:v>
                </c:pt>
                <c:pt idx="1">
                  <c:v>3600</c:v>
                </c:pt>
                <c:pt idx="2">
                  <c:v>4000</c:v>
                </c:pt>
                <c:pt idx="3">
                  <c:v>3900</c:v>
                </c:pt>
                <c:pt idx="4">
                  <c:v>4100</c:v>
                </c:pt>
                <c:pt idx="5">
                  <c:v>4200</c:v>
                </c:pt>
                <c:pt idx="6">
                  <c:v>4300</c:v>
                </c:pt>
                <c:pt idx="7">
                  <c:v>4400</c:v>
                </c:pt>
                <c:pt idx="8">
                  <c:v>4500</c:v>
                </c:pt>
                <c:pt idx="9">
                  <c:v>4700</c:v>
                </c:pt>
                <c:pt idx="10">
                  <c:v>5500</c:v>
                </c:pt>
                <c:pt idx="11">
                  <c:v>6200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4200</c:v>
                </c:pt>
                <c:pt idx="1">
                  <c:v>4100</c:v>
                </c:pt>
                <c:pt idx="2">
                  <c:v>4000</c:v>
                </c:pt>
                <c:pt idx="3">
                  <c:v>3900</c:v>
                </c:pt>
                <c:pt idx="4">
                  <c:v>3800</c:v>
                </c:pt>
                <c:pt idx="5">
                  <c:v>3700</c:v>
                </c:pt>
                <c:pt idx="6">
                  <c:v>3800</c:v>
                </c:pt>
                <c:pt idx="7">
                  <c:v>3900</c:v>
                </c:pt>
                <c:pt idx="8">
                  <c:v>4000</c:v>
                </c:pt>
                <c:pt idx="9">
                  <c:v>4300</c:v>
                </c:pt>
                <c:pt idx="10">
                  <c:v>5200</c:v>
                </c:pt>
                <c:pt idx="11">
                  <c:v>5900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MARKET ANALYSIS &amp; BUSINESS UNDERSTANDING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572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Sales channels • Regional performance • Product mix • Demographics • Seasonal trends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SRIRAM 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Analyst  •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Objective: Analyze sales data across channels, regions, products, and demographics to uncover key trends and drive actionable business decisions.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🔧  Data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Resolved missing values, duplicates, inconsistent formats &amp; outliers for reliable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8288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82880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📊  Channel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3957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Compared performance across Online, In-Store &amp; partner channels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82880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9933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🗺️  Regional 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3957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Identified high- and low-performing regions across North, South, East &amp; West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02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📦  Product Performance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90448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Ranked Products A–D by sales amount to surface top-sellers and laggards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3337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333756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502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👥  Customer Demographics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90448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Assessed how age (16–64) and gender shaped purchasing behavior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3337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333756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5021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📅  Time-Based Trends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390448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Tracked seasonal patterns and channel growth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CHANNEL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3017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54,338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Online Sales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Top channel — 51% share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304288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304288"/>
            <a:ext cx="30175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441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52,053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98932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In-Store Sales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3172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49% — close second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602736"/>
            <a:ext cx="3017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602736"/>
            <a:ext cx="301752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73989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106,391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989320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Grand Total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89320" y="44714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Combined revenue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💡  Insight: Online slightly outperforms In-Store. Invest in digital marketing to extend this lead, while optimizing in-store experience to retain loyal shoppers.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1440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960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🥇 North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960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28,149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893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Leader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901952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1947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🥈 West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1947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27,402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89320" y="2404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+0.5% behind North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889504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29352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🥉 South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06640" y="29352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27,077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989320" y="33924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Solid mid-performer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3877056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89320" y="3922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⚠️ East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06640" y="3922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23,089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989320" y="4379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18% below North — needs focus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💡  Insight: East region lags 18% behind North. Localized campaigns, targeted promotions, and resource reallocation could close the gap.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14400"/>
            <a:ext cx="32918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10424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Product 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1042416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28,628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Strong demand — boost promotions further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901952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901952"/>
            <a:ext cx="32918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Product 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06640" y="20299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26,275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0" y="2404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Bundle with B to close the gap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889504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889504"/>
            <a:ext cx="32918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Product 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06640" y="3017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25,571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0" y="3392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Targeted discounts could lift rank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3877056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3877056"/>
            <a:ext cx="32918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Product 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06640" y="400507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25,099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15000" y="43799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Highlight unique features in marketing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💡  Insight: All four products are tightly clustered (25K–28K). Marginal wins through bundling and targeted campaigns can shift rankings significantly.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AGE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10972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1097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56–64 Age Group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53328" y="1417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21,764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53328" y="18105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Highest-spending segment — 47% above youngest cohort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331720"/>
            <a:ext cx="10972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4231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40–48 Age Group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53328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19,395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053328" y="31363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Strong second — mature consumers with high purchasing power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657600"/>
            <a:ext cx="3017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657600"/>
            <a:ext cx="109728" cy="1170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749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16–24 Age Group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53328" y="4069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14,786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053328" y="44622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Lowest segment — opportunity to grow with digital campaigns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114800"/>
            <a:ext cx="53035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160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💡  Insight: Prioritize retaining the 40–64 segment while deploying targeted digital campaigns to unlock the underperforming 16–32 age group.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&amp; CHANNEL DISTRIBUTION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0058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1005840"/>
            <a:ext cx="41148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2040" y="1152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♂  Male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115214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37%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92040" y="1517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38,917 sales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92040" y="1810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Slight leader — prefers In-Store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3317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331720"/>
            <a:ext cx="41148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4780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♀  Female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63840" y="24780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34%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89204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36,155 sales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92040" y="3136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Prefers Online channel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36576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3657600"/>
            <a:ext cx="41148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803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⊕  Other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63840" y="380390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29%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89204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29,984 sales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Growth opportunity segment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💡  Insight: Maintain inclusive marketing. Tailor digital offers for Female and Other segments; leverage in-store promotions to maximize Male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SALES TRENDS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361688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Q4 Holiday Spike: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Both channels surge in Nov–Dec.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  |  </a:t>
            </a:r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Online Growth: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Consistent upward trajectory all year.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  |  </a:t>
            </a:r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Action: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Pre-load inventory &amp; launch campaigns by October.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274320"/>
            <a:ext cx="4114800" cy="41148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</a:rPr>
              <a:t>FINAL TAKEAWAYS &amp; RECOMMENDATIONS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Actions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4124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184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6642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Channel: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6642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Double down on Online — it leads. Optimize In-Store UX to retain physical shoppers.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4124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042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3500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Regional: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3500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Localize campaigns in the East region to close the 18% gap vs North.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4124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9008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035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Product: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30358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Bundle Product B with laggards (C &amp; D). Promote A alongside B to lift overall basket.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4124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67588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7216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Demographics: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37216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Retain high-value 40–64 buyers. Launch digital-first campaigns to capture 16–32 segment.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4124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36168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44074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Seasonal: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44074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Prepare Q4 inventory surges by October. Run pre-holiday campaigns from September.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– Market Analysis &amp; Business Understanding</dc:title>
  <dc:subject>PptxGenJS Presentation</dc:subject>
  <dc:creator>PptxGenJS</dc:creator>
  <cp:lastModifiedBy>PptxGenJS</cp:lastModifiedBy>
  <cp:revision>1</cp:revision>
  <dcterms:created xsi:type="dcterms:W3CDTF">2026-02-18T10:03:16Z</dcterms:created>
  <dcterms:modified xsi:type="dcterms:W3CDTF">2026-02-18T10:03:16Z</dcterms:modified>
</cp:coreProperties>
</file>