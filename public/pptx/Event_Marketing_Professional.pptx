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Shape 0"/>
          <p:cNvSpPr/>
          <p:nvPr/>
        </p:nvSpPr>
        <p:spPr>
          <a:xfrm>
            <a:off x="8686800" y="0"/>
            <a:ext cx="457200" cy="5143500"/>
          </a:xfrm>
          <a:prstGeom prst="rect">
            <a:avLst/>
          </a:prstGeom>
          <a:solidFill>
            <a:srgbClr val="DC2626"/>
          </a:solidFill>
          <a:ln/>
        </p:spPr>
      </p:sp>
      <p:sp>
        <p:nvSpPr>
          <p:cNvPr id="3" name="Shape 1"/>
          <p:cNvSpPr/>
          <p:nvPr/>
        </p:nvSpPr>
        <p:spPr>
          <a:xfrm>
            <a:off x="0" y="4686300"/>
            <a:ext cx="9144000" cy="457200"/>
          </a:xfrm>
          <a:prstGeom prst="rect">
            <a:avLst/>
          </a:prstGeom>
          <a:solidFill>
            <a:srgbClr val="DC2626"/>
          </a:solidFill>
          <a:ln/>
        </p:spPr>
      </p:sp>
      <p:sp>
        <p:nvSpPr>
          <p:cNvPr id="4" name="Text 2"/>
          <p:cNvSpPr/>
          <p:nvPr/>
        </p:nvSpPr>
        <p:spPr>
          <a:xfrm>
            <a:off x="457200" y="457200"/>
            <a:ext cx="8229600" cy="914400"/>
          </a:xfrm>
          <a:prstGeom prst="rect">
            <a:avLst/>
          </a:prstGeom>
          <a:noFill/>
          <a:ln/>
        </p:spPr>
        <p:txBody>
          <a:bodyPr wrap="square" lIns="0" tIns="0" rIns="0" bIns="0" rtlCol="0" anchor="ctr"/>
          <a:lstStyle/>
          <a:p>
            <a:pPr algn="l" indent="0" marL="0">
              <a:buNone/>
            </a:pPr>
            <a:r>
              <a:rPr lang="en-US" sz="6600" b="1" dirty="0">
                <a:solidFill>
                  <a:srgbClr val="FFFFFF"/>
                </a:solidFill>
                <a:latin typeface="Arial" pitchFamily="34" charset="0"/>
                <a:ea typeface="Arial" pitchFamily="34" charset="-122"/>
                <a:cs typeface="Arial" pitchFamily="34" charset="-120"/>
              </a:rPr>
              <a:t>EVENT MARKETING</a:t>
            </a:r>
            <a:endParaRPr lang="en-US" sz="6600" dirty="0"/>
          </a:p>
        </p:txBody>
      </p:sp>
      <p:sp>
        <p:nvSpPr>
          <p:cNvPr id="5" name="Text 3"/>
          <p:cNvSpPr/>
          <p:nvPr/>
        </p:nvSpPr>
        <p:spPr>
          <a:xfrm>
            <a:off x="457200" y="1463040"/>
            <a:ext cx="8229600" cy="457200"/>
          </a:xfrm>
          <a:prstGeom prst="rect">
            <a:avLst/>
          </a:prstGeom>
          <a:noFill/>
          <a:ln/>
        </p:spPr>
        <p:txBody>
          <a:bodyPr wrap="square" lIns="0" tIns="0" rIns="0" bIns="0" rtlCol="0" anchor="ctr"/>
          <a:lstStyle/>
          <a:p>
            <a:pPr algn="l" indent="0" marL="0">
              <a:buNone/>
            </a:pPr>
            <a:r>
              <a:rPr lang="en-US" sz="2800" dirty="0">
                <a:solidFill>
                  <a:srgbClr val="FCD34D"/>
                </a:solidFill>
                <a:latin typeface="Arial" pitchFamily="34" charset="0"/>
                <a:ea typeface="Arial" pitchFamily="34" charset="-122"/>
                <a:cs typeface="Arial" pitchFamily="34" charset="-120"/>
              </a:rPr>
              <a:t>UCM20602L Project Report</a:t>
            </a:r>
            <a:endParaRPr lang="en-US" sz="2800" dirty="0"/>
          </a:p>
        </p:txBody>
      </p:sp>
      <p:sp>
        <p:nvSpPr>
          <p:cNvPr id="6" name="Shape 4"/>
          <p:cNvSpPr/>
          <p:nvPr/>
        </p:nvSpPr>
        <p:spPr>
          <a:xfrm>
            <a:off x="457200" y="2011680"/>
            <a:ext cx="1828800" cy="45720"/>
          </a:xfrm>
          <a:prstGeom prst="rect">
            <a:avLst/>
          </a:prstGeom>
          <a:solidFill>
            <a:srgbClr val="FCD34D"/>
          </a:solidFill>
          <a:ln/>
        </p:spPr>
      </p:sp>
      <p:sp>
        <p:nvSpPr>
          <p:cNvPr id="7" name="Text 5"/>
          <p:cNvSpPr/>
          <p:nvPr/>
        </p:nvSpPr>
        <p:spPr>
          <a:xfrm>
            <a:off x="457200" y="2286000"/>
            <a:ext cx="8229600" cy="365760"/>
          </a:xfrm>
          <a:prstGeom prst="rect">
            <a:avLst/>
          </a:prstGeom>
          <a:noFill/>
          <a:ln/>
        </p:spPr>
        <p:txBody>
          <a:bodyPr wrap="square" lIns="0" tIns="0" rIns="0" bIns="0" rtlCol="0" anchor="ctr"/>
          <a:lstStyle/>
          <a:p>
            <a:pPr algn="l" indent="0" marL="0">
              <a:buNone/>
            </a:pPr>
            <a:r>
              <a:rPr lang="en-US" sz="1600" i="1" dirty="0">
                <a:solidFill>
                  <a:srgbClr val="F3F4F6"/>
                </a:solidFill>
                <a:latin typeface="Arial" pitchFamily="34" charset="0"/>
                <a:ea typeface="Arial" pitchFamily="34" charset="-122"/>
                <a:cs typeface="Arial" pitchFamily="34" charset="-120"/>
              </a:rPr>
              <a:t>Comprehensive Analysis of Three Major Events</a:t>
            </a:r>
            <a:endParaRPr lang="en-US" sz="1600" dirty="0"/>
          </a:p>
        </p:txBody>
      </p:sp>
      <p:sp>
        <p:nvSpPr>
          <p:cNvPr id="8" name="Text 6"/>
          <p:cNvSpPr/>
          <p:nvPr/>
        </p:nvSpPr>
        <p:spPr>
          <a:xfrm>
            <a:off x="457200" y="2926080"/>
            <a:ext cx="8229600" cy="27432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M. Sriram | RA2031204020024</a:t>
            </a:r>
            <a:endParaRPr lang="en-US" sz="1400" dirty="0"/>
          </a:p>
        </p:txBody>
      </p:sp>
      <p:sp>
        <p:nvSpPr>
          <p:cNvPr id="9" name="Text 7"/>
          <p:cNvSpPr/>
          <p:nvPr/>
        </p:nvSpPr>
        <p:spPr>
          <a:xfrm>
            <a:off x="457200" y="3291840"/>
            <a:ext cx="8229600" cy="27432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Guided by: Mrs. Anandhi K</a:t>
            </a:r>
            <a:endParaRPr lang="en-US" sz="1400" dirty="0"/>
          </a:p>
        </p:txBody>
      </p:sp>
      <p:sp>
        <p:nvSpPr>
          <p:cNvPr id="10" name="Text 8"/>
          <p:cNvSpPr/>
          <p:nvPr/>
        </p:nvSpPr>
        <p:spPr>
          <a:xfrm>
            <a:off x="457200" y="3657600"/>
            <a:ext cx="8229600" cy="274320"/>
          </a:xfrm>
          <a:prstGeom prst="rect">
            <a:avLst/>
          </a:prstGeom>
          <a:noFill/>
          <a:ln/>
        </p:spPr>
        <p:txBody>
          <a:bodyPr wrap="square" lIns="0" tIns="0" rIns="0" bIns="0" rtlCol="0" anchor="ctr"/>
          <a:lstStyle/>
          <a:p>
            <a:pPr algn="l" indent="0" marL="0">
              <a:buNone/>
            </a:pPr>
            <a:r>
              <a:rPr lang="en-US" sz="1400" dirty="0">
                <a:solidFill>
                  <a:srgbClr val="F3F4F6"/>
                </a:solidFill>
                <a:latin typeface="Arial" pitchFamily="34" charset="0"/>
                <a:ea typeface="Arial" pitchFamily="34" charset="-122"/>
                <a:cs typeface="Arial" pitchFamily="34" charset="-120"/>
              </a:rPr>
              <a:t>SRM Institute of Science &amp; Technology</a:t>
            </a:r>
            <a:endParaRPr lang="en-US" sz="1400" dirty="0"/>
          </a:p>
        </p:txBody>
      </p:sp>
      <p:sp>
        <p:nvSpPr>
          <p:cNvPr id="11" name="Text 9"/>
          <p:cNvSpPr/>
          <p:nvPr/>
        </p:nvSpPr>
        <p:spPr>
          <a:xfrm>
            <a:off x="457200" y="4114800"/>
            <a:ext cx="8229600" cy="274320"/>
          </a:xfrm>
          <a:prstGeom prst="rect">
            <a:avLst/>
          </a:prstGeom>
          <a:noFill/>
          <a:ln/>
        </p:spPr>
        <p:txBody>
          <a:bodyPr wrap="square" lIns="0" tIns="0" rIns="0" bIns="0" rtlCol="0" anchor="ctr"/>
          <a:lstStyle/>
          <a:p>
            <a:pPr algn="l" indent="0" marL="0">
              <a:buNone/>
            </a:pPr>
            <a:r>
              <a:rPr lang="en-US" sz="1600" b="1" dirty="0">
                <a:solidFill>
                  <a:srgbClr val="FCD34D"/>
                </a:solidFill>
                <a:latin typeface="Arial" pitchFamily="34" charset="0"/>
                <a:ea typeface="Arial" pitchFamily="34" charset="-122"/>
                <a:cs typeface="Arial" pitchFamily="34" charset="-120"/>
              </a:rPr>
              <a:t>April 2023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3A8A"/>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PROJECT OVERVIEW</a:t>
            </a:r>
            <a:endParaRPr lang="en-US" sz="3200" dirty="0"/>
          </a:p>
        </p:txBody>
      </p:sp>
      <p:sp>
        <p:nvSpPr>
          <p:cNvPr id="4" name="Shape 2"/>
          <p:cNvSpPr/>
          <p:nvPr/>
        </p:nvSpPr>
        <p:spPr>
          <a:xfrm>
            <a:off x="457200" y="1097280"/>
            <a:ext cx="2743200" cy="3657600"/>
          </a:xfrm>
          <a:prstGeom prst="rect">
            <a:avLst/>
          </a:prstGeom>
          <a:solidFill>
            <a:srgbClr val="F3F4F6"/>
          </a:solidFill>
          <a:ln w="38100">
            <a:solidFill>
              <a:srgbClr val="2563EB"/>
            </a:solidFill>
            <a:prstDash val="solid"/>
          </a:ln>
        </p:spPr>
      </p:sp>
      <p:sp>
        <p:nvSpPr>
          <p:cNvPr id="5" name="Shape 3"/>
          <p:cNvSpPr/>
          <p:nvPr/>
        </p:nvSpPr>
        <p:spPr>
          <a:xfrm>
            <a:off x="457200" y="1097280"/>
            <a:ext cx="2743200" cy="365760"/>
          </a:xfrm>
          <a:prstGeom prst="rect">
            <a:avLst/>
          </a:prstGeom>
          <a:solidFill>
            <a:srgbClr val="2563EB"/>
          </a:solidFill>
          <a:ln/>
        </p:spPr>
      </p:sp>
      <p:sp>
        <p:nvSpPr>
          <p:cNvPr id="6" name="Text 4"/>
          <p:cNvSpPr/>
          <p:nvPr/>
        </p:nvSpPr>
        <p:spPr>
          <a:xfrm>
            <a:off x="640080" y="1188720"/>
            <a:ext cx="2377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International Leather Expo</a:t>
            </a:r>
            <a:endParaRPr lang="en-US" sz="1400" dirty="0"/>
          </a:p>
        </p:txBody>
      </p:sp>
      <p:sp>
        <p:nvSpPr>
          <p:cNvPr id="7" name="Text 5"/>
          <p:cNvSpPr/>
          <p:nvPr/>
        </p:nvSpPr>
        <p:spPr>
          <a:xfrm>
            <a:off x="640080" y="1645920"/>
            <a:ext cx="2377440" cy="228600"/>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February 1-3, 2023</a:t>
            </a:r>
            <a:endParaRPr lang="en-US" sz="1100" dirty="0"/>
          </a:p>
        </p:txBody>
      </p:sp>
      <p:sp>
        <p:nvSpPr>
          <p:cNvPr id="8" name="Shape 6"/>
          <p:cNvSpPr/>
          <p:nvPr/>
        </p:nvSpPr>
        <p:spPr>
          <a:xfrm>
            <a:off x="731520" y="1965960"/>
            <a:ext cx="2194560" cy="27432"/>
          </a:xfrm>
          <a:prstGeom prst="rect">
            <a:avLst/>
          </a:prstGeom>
          <a:solidFill>
            <a:srgbClr val="2563EB"/>
          </a:solidFill>
          <a:ln/>
        </p:spPr>
      </p:sp>
      <p:sp>
        <p:nvSpPr>
          <p:cNvPr id="9" name="Text 7"/>
          <p:cNvSpPr/>
          <p:nvPr/>
        </p:nvSpPr>
        <p:spPr>
          <a:xfrm>
            <a:off x="640080" y="2148840"/>
            <a:ext cx="2377440" cy="2194560"/>
          </a:xfrm>
          <a:prstGeom prst="rect">
            <a:avLst/>
          </a:prstGeom>
          <a:noFill/>
          <a:ln/>
        </p:spPr>
        <p:txBody>
          <a:bodyPr wrap="square" lIns="0" tIns="0" rIns="0" bIns="0" rtlCol="0" anchor="ctr"/>
          <a:lstStyle/>
          <a:p>
            <a:pPr algn="ctr" indent="0" marL="0">
              <a:buNone/>
            </a:pPr>
            <a:r>
              <a:rPr lang="en-US" sz="1200" dirty="0">
                <a:solidFill>
                  <a:srgbClr val="374151"/>
                </a:solidFill>
                <a:latin typeface="Arial" pitchFamily="34" charset="0"/>
                <a:ea typeface="Arial" pitchFamily="34" charset="-122"/>
                <a:cs typeface="Arial" pitchFamily="34" charset="-120"/>
              </a:rPr>
              <a:t>300+ Exhibitors</a:t>
            </a:r>
            <a:endParaRPr lang="en-US" sz="1200" dirty="0"/>
          </a:p>
          <a:p>
            <a:pPr algn="ctr" indent="0" marL="0">
              <a:buNone/>
            </a:pPr>
            <a:r>
              <a:rPr lang="en-US" sz="1200" dirty="0">
                <a:solidFill>
                  <a:srgbClr val="374151"/>
                </a:solidFill>
                <a:latin typeface="Arial" pitchFamily="34" charset="0"/>
                <a:ea typeface="Arial" pitchFamily="34" charset="-122"/>
                <a:cs typeface="Arial" pitchFamily="34" charset="-120"/>
              </a:rPr>
              <a:t>100,000+ Visitors</a:t>
            </a:r>
            <a:endParaRPr lang="en-US" sz="1200" dirty="0"/>
          </a:p>
          <a:p>
            <a:pPr algn="ctr" indent="0" marL="0">
              <a:buNone/>
            </a:pPr>
            <a:r>
              <a:rPr lang="en-US" sz="1200" dirty="0">
                <a:solidFill>
                  <a:srgbClr val="374151"/>
                </a:solidFill>
                <a:latin typeface="Arial" pitchFamily="34" charset="0"/>
                <a:ea typeface="Arial" pitchFamily="34" charset="-122"/>
                <a:cs typeface="Arial" pitchFamily="34" charset="-120"/>
              </a:rPr>
              <a:t>₹42.8 Lakhs Budget</a:t>
            </a:r>
            <a:endParaRPr lang="en-US" sz="1200" dirty="0"/>
          </a:p>
        </p:txBody>
      </p:sp>
      <p:sp>
        <p:nvSpPr>
          <p:cNvPr id="10" name="Shape 8"/>
          <p:cNvSpPr/>
          <p:nvPr/>
        </p:nvSpPr>
        <p:spPr>
          <a:xfrm>
            <a:off x="3383280" y="1097280"/>
            <a:ext cx="2743200" cy="3657600"/>
          </a:xfrm>
          <a:prstGeom prst="rect">
            <a:avLst/>
          </a:prstGeom>
          <a:solidFill>
            <a:srgbClr val="F3F4F6"/>
          </a:solidFill>
          <a:ln w="38100">
            <a:solidFill>
              <a:srgbClr val="DC2626"/>
            </a:solidFill>
            <a:prstDash val="solid"/>
          </a:ln>
        </p:spPr>
      </p:sp>
      <p:sp>
        <p:nvSpPr>
          <p:cNvPr id="11" name="Shape 9"/>
          <p:cNvSpPr/>
          <p:nvPr/>
        </p:nvSpPr>
        <p:spPr>
          <a:xfrm>
            <a:off x="3383280" y="1097280"/>
            <a:ext cx="2743200" cy="365760"/>
          </a:xfrm>
          <a:prstGeom prst="rect">
            <a:avLst/>
          </a:prstGeom>
          <a:solidFill>
            <a:srgbClr val="DC2626"/>
          </a:solidFill>
          <a:ln/>
        </p:spPr>
      </p:sp>
      <p:sp>
        <p:nvSpPr>
          <p:cNvPr id="12" name="Text 10"/>
          <p:cNvSpPr/>
          <p:nvPr/>
        </p:nvSpPr>
        <p:spPr>
          <a:xfrm>
            <a:off x="3566160" y="1188720"/>
            <a:ext cx="2377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Chennai Book Fair</a:t>
            </a:r>
            <a:endParaRPr lang="en-US" sz="1400" dirty="0"/>
          </a:p>
        </p:txBody>
      </p:sp>
      <p:sp>
        <p:nvSpPr>
          <p:cNvPr id="13" name="Text 11"/>
          <p:cNvSpPr/>
          <p:nvPr/>
        </p:nvSpPr>
        <p:spPr>
          <a:xfrm>
            <a:off x="3566160" y="1645920"/>
            <a:ext cx="2377440" cy="228600"/>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January 6-22, 2023</a:t>
            </a:r>
            <a:endParaRPr lang="en-US" sz="1100" dirty="0"/>
          </a:p>
        </p:txBody>
      </p:sp>
      <p:sp>
        <p:nvSpPr>
          <p:cNvPr id="14" name="Shape 12"/>
          <p:cNvSpPr/>
          <p:nvPr/>
        </p:nvSpPr>
        <p:spPr>
          <a:xfrm>
            <a:off x="3657600" y="1965960"/>
            <a:ext cx="2194560" cy="27432"/>
          </a:xfrm>
          <a:prstGeom prst="rect">
            <a:avLst/>
          </a:prstGeom>
          <a:solidFill>
            <a:srgbClr val="DC2626"/>
          </a:solidFill>
          <a:ln/>
        </p:spPr>
      </p:sp>
      <p:sp>
        <p:nvSpPr>
          <p:cNvPr id="15" name="Text 13"/>
          <p:cNvSpPr/>
          <p:nvPr/>
        </p:nvSpPr>
        <p:spPr>
          <a:xfrm>
            <a:off x="3566160" y="2148840"/>
            <a:ext cx="2377440" cy="2194560"/>
          </a:xfrm>
          <a:prstGeom prst="rect">
            <a:avLst/>
          </a:prstGeom>
          <a:noFill/>
          <a:ln/>
        </p:spPr>
        <p:txBody>
          <a:bodyPr wrap="square" lIns="0" tIns="0" rIns="0" bIns="0" rtlCol="0" anchor="ctr"/>
          <a:lstStyle/>
          <a:p>
            <a:pPr algn="ctr" indent="0" marL="0">
              <a:buNone/>
            </a:pPr>
            <a:r>
              <a:rPr lang="en-US" sz="1200" dirty="0">
                <a:solidFill>
                  <a:srgbClr val="374151"/>
                </a:solidFill>
                <a:latin typeface="Arial" pitchFamily="34" charset="0"/>
                <a:ea typeface="Arial" pitchFamily="34" charset="-122"/>
                <a:cs typeface="Arial" pitchFamily="34" charset="-120"/>
              </a:rPr>
              <a:t>1,000+ Stalls</a:t>
            </a:r>
            <a:endParaRPr lang="en-US" sz="1200" dirty="0"/>
          </a:p>
          <a:p>
            <a:pPr algn="ctr" indent="0" marL="0">
              <a:buNone/>
            </a:pPr>
            <a:r>
              <a:rPr lang="en-US" sz="1200" dirty="0">
                <a:solidFill>
                  <a:srgbClr val="374151"/>
                </a:solidFill>
                <a:latin typeface="Arial" pitchFamily="34" charset="0"/>
                <a:ea typeface="Arial" pitchFamily="34" charset="-122"/>
                <a:cs typeface="Arial" pitchFamily="34" charset="-120"/>
              </a:rPr>
              <a:t>600,000+ Visitors</a:t>
            </a:r>
            <a:endParaRPr lang="en-US" sz="1200" dirty="0"/>
          </a:p>
          <a:p>
            <a:pPr algn="ctr" indent="0" marL="0">
              <a:buNone/>
            </a:pPr>
            <a:r>
              <a:rPr lang="en-US" sz="1200" dirty="0">
                <a:solidFill>
                  <a:srgbClr val="374151"/>
                </a:solidFill>
                <a:latin typeface="Arial" pitchFamily="34" charset="0"/>
                <a:ea typeface="Arial" pitchFamily="34" charset="-122"/>
                <a:cs typeface="Arial" pitchFamily="34" charset="-120"/>
              </a:rPr>
              <a:t>46th Edition</a:t>
            </a:r>
            <a:endParaRPr lang="en-US" sz="1200" dirty="0"/>
          </a:p>
        </p:txBody>
      </p:sp>
      <p:sp>
        <p:nvSpPr>
          <p:cNvPr id="16" name="Shape 14"/>
          <p:cNvSpPr/>
          <p:nvPr/>
        </p:nvSpPr>
        <p:spPr>
          <a:xfrm>
            <a:off x="6309360" y="1097280"/>
            <a:ext cx="2743200" cy="3657600"/>
          </a:xfrm>
          <a:prstGeom prst="rect">
            <a:avLst/>
          </a:prstGeom>
          <a:solidFill>
            <a:srgbClr val="F3F4F6"/>
          </a:solidFill>
          <a:ln w="38100">
            <a:solidFill>
              <a:srgbClr val="0D9488"/>
            </a:solidFill>
            <a:prstDash val="solid"/>
          </a:ln>
        </p:spPr>
      </p:sp>
      <p:sp>
        <p:nvSpPr>
          <p:cNvPr id="17" name="Shape 15"/>
          <p:cNvSpPr/>
          <p:nvPr/>
        </p:nvSpPr>
        <p:spPr>
          <a:xfrm>
            <a:off x="6309360" y="1097280"/>
            <a:ext cx="2743200" cy="365760"/>
          </a:xfrm>
          <a:prstGeom prst="rect">
            <a:avLst/>
          </a:prstGeom>
          <a:solidFill>
            <a:srgbClr val="0D9488"/>
          </a:solidFill>
          <a:ln/>
        </p:spPr>
      </p:sp>
      <p:sp>
        <p:nvSpPr>
          <p:cNvPr id="18" name="Text 16"/>
          <p:cNvSpPr/>
          <p:nvPr/>
        </p:nvSpPr>
        <p:spPr>
          <a:xfrm>
            <a:off x="6492240" y="1188720"/>
            <a:ext cx="2377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ED Pavilion - 23</a:t>
            </a:r>
            <a:endParaRPr lang="en-US" sz="1400" dirty="0"/>
          </a:p>
        </p:txBody>
      </p:sp>
      <p:sp>
        <p:nvSpPr>
          <p:cNvPr id="19" name="Text 17"/>
          <p:cNvSpPr/>
          <p:nvPr/>
        </p:nvSpPr>
        <p:spPr>
          <a:xfrm>
            <a:off x="6492240" y="1645920"/>
            <a:ext cx="2377440" cy="228600"/>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Educational Event</a:t>
            </a:r>
            <a:endParaRPr lang="en-US" sz="1100" dirty="0"/>
          </a:p>
        </p:txBody>
      </p:sp>
      <p:sp>
        <p:nvSpPr>
          <p:cNvPr id="20" name="Shape 18"/>
          <p:cNvSpPr/>
          <p:nvPr/>
        </p:nvSpPr>
        <p:spPr>
          <a:xfrm>
            <a:off x="6583680" y="1965960"/>
            <a:ext cx="2194560" cy="27432"/>
          </a:xfrm>
          <a:prstGeom prst="rect">
            <a:avLst/>
          </a:prstGeom>
          <a:solidFill>
            <a:srgbClr val="0D9488"/>
          </a:solidFill>
          <a:ln/>
        </p:spPr>
      </p:sp>
      <p:sp>
        <p:nvSpPr>
          <p:cNvPr id="21" name="Text 19"/>
          <p:cNvSpPr/>
          <p:nvPr/>
        </p:nvSpPr>
        <p:spPr>
          <a:xfrm>
            <a:off x="6492240" y="2148840"/>
            <a:ext cx="2377440" cy="2194560"/>
          </a:xfrm>
          <a:prstGeom prst="rect">
            <a:avLst/>
          </a:prstGeom>
          <a:noFill/>
          <a:ln/>
        </p:spPr>
        <p:txBody>
          <a:bodyPr wrap="square" lIns="0" tIns="0" rIns="0" bIns="0" rtlCol="0" anchor="ctr"/>
          <a:lstStyle/>
          <a:p>
            <a:pPr algn="ctr" indent="0" marL="0">
              <a:buNone/>
            </a:pPr>
            <a:r>
              <a:rPr lang="en-US" sz="1200" dirty="0">
                <a:solidFill>
                  <a:srgbClr val="374151"/>
                </a:solidFill>
                <a:latin typeface="Arial" pitchFamily="34" charset="0"/>
                <a:ea typeface="Arial" pitchFamily="34" charset="-122"/>
                <a:cs typeface="Arial" pitchFamily="34" charset="-120"/>
              </a:rPr>
              <a:t>11 Sectors</a:t>
            </a:r>
            <a:endParaRPr lang="en-US" sz="1200" dirty="0"/>
          </a:p>
          <a:p>
            <a:pPr algn="ctr" indent="0" marL="0">
              <a:buNone/>
            </a:pPr>
            <a:r>
              <a:rPr lang="en-US" sz="1200" dirty="0">
                <a:solidFill>
                  <a:srgbClr val="374151"/>
                </a:solidFill>
                <a:latin typeface="Arial" pitchFamily="34" charset="0"/>
                <a:ea typeface="Arial" pitchFamily="34" charset="-122"/>
                <a:cs typeface="Arial" pitchFamily="34" charset="-120"/>
              </a:rPr>
              <a:t>500+ Visitors</a:t>
            </a:r>
            <a:endParaRPr lang="en-US" sz="1200" dirty="0"/>
          </a:p>
          <a:p>
            <a:pPr algn="ctr" indent="0" marL="0">
              <a:buNone/>
            </a:pPr>
            <a:r>
              <a:rPr lang="en-US" sz="1200" dirty="0">
                <a:solidFill>
                  <a:srgbClr val="374151"/>
                </a:solidFill>
                <a:latin typeface="Arial" pitchFamily="34" charset="0"/>
                <a:ea typeface="Arial" pitchFamily="34" charset="-122"/>
                <a:cs typeface="Arial" pitchFamily="34" charset="-120"/>
              </a:rPr>
              <a:t>₹20,000 Budget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563EB"/>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INTERNATIONAL LEATHER EXPO</a:t>
            </a:r>
            <a:endParaRPr lang="en-US" sz="3200" dirty="0"/>
          </a:p>
        </p:txBody>
      </p:sp>
      <p:sp>
        <p:nvSpPr>
          <p:cNvPr id="4" name="Text 2"/>
          <p:cNvSpPr/>
          <p:nvPr/>
        </p:nvSpPr>
        <p:spPr>
          <a:xfrm>
            <a:off x="457200" y="914400"/>
            <a:ext cx="4114800" cy="274320"/>
          </a:xfrm>
          <a:prstGeom prst="rect">
            <a:avLst/>
          </a:prstGeom>
          <a:noFill/>
          <a:ln/>
        </p:spPr>
        <p:txBody>
          <a:bodyPr wrap="square" lIns="0" tIns="0" rIns="0" bIns="0" rtlCol="0" anchor="ctr"/>
          <a:lstStyle/>
          <a:p>
            <a:pPr algn="l" indent="0" marL="0">
              <a:buNone/>
            </a:pPr>
            <a:r>
              <a:rPr lang="en-US" sz="1600" b="1" dirty="0">
                <a:solidFill>
                  <a:srgbClr val="1E3A8A"/>
                </a:solidFill>
                <a:latin typeface="Arial" pitchFamily="34" charset="0"/>
                <a:ea typeface="Arial" pitchFamily="34" charset="-122"/>
                <a:cs typeface="Arial" pitchFamily="34" charset="-120"/>
              </a:rPr>
              <a:t>Event Details</a:t>
            </a:r>
            <a:endParaRPr lang="en-US" sz="1600" dirty="0"/>
          </a:p>
        </p:txBody>
      </p:sp>
      <p:sp>
        <p:nvSpPr>
          <p:cNvPr id="5" name="Shape 3"/>
          <p:cNvSpPr/>
          <p:nvPr/>
        </p:nvSpPr>
        <p:spPr>
          <a:xfrm>
            <a:off x="457200" y="1234440"/>
            <a:ext cx="45720" cy="2743200"/>
          </a:xfrm>
          <a:prstGeom prst="rect">
            <a:avLst/>
          </a:prstGeom>
          <a:solidFill>
            <a:srgbClr val="2563EB"/>
          </a:solidFill>
          <a:ln/>
        </p:spPr>
      </p:sp>
      <p:sp>
        <p:nvSpPr>
          <p:cNvPr id="6" name="Text 4"/>
          <p:cNvSpPr/>
          <p:nvPr/>
        </p:nvSpPr>
        <p:spPr>
          <a:xfrm>
            <a:off x="640080" y="1234440"/>
            <a:ext cx="374904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Dates: Feb 1-3, 2023</a:t>
            </a:r>
            <a:endParaRPr lang="en-US" sz="1200" dirty="0"/>
          </a:p>
        </p:txBody>
      </p:sp>
      <p:sp>
        <p:nvSpPr>
          <p:cNvPr id="7" name="Text 5"/>
          <p:cNvSpPr/>
          <p:nvPr/>
        </p:nvSpPr>
        <p:spPr>
          <a:xfrm>
            <a:off x="640080" y="1645920"/>
            <a:ext cx="374904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Venue: Chennai Trade Centre</a:t>
            </a:r>
            <a:endParaRPr lang="en-US" sz="1200" dirty="0"/>
          </a:p>
        </p:txBody>
      </p:sp>
      <p:sp>
        <p:nvSpPr>
          <p:cNvPr id="8" name="Text 6"/>
          <p:cNvSpPr/>
          <p:nvPr/>
        </p:nvSpPr>
        <p:spPr>
          <a:xfrm>
            <a:off x="640080" y="2057400"/>
            <a:ext cx="374904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Hours: 10 AM - 6 PM</a:t>
            </a:r>
            <a:endParaRPr lang="en-US" sz="1200" dirty="0"/>
          </a:p>
        </p:txBody>
      </p:sp>
      <p:sp>
        <p:nvSpPr>
          <p:cNvPr id="9" name="Text 7"/>
          <p:cNvSpPr/>
          <p:nvPr/>
        </p:nvSpPr>
        <p:spPr>
          <a:xfrm>
            <a:off x="640080" y="2468880"/>
            <a:ext cx="374904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Exhibitors: 300+</a:t>
            </a:r>
            <a:endParaRPr lang="en-US" sz="1200" dirty="0"/>
          </a:p>
        </p:txBody>
      </p:sp>
      <p:sp>
        <p:nvSpPr>
          <p:cNvPr id="10" name="Text 8"/>
          <p:cNvSpPr/>
          <p:nvPr/>
        </p:nvSpPr>
        <p:spPr>
          <a:xfrm>
            <a:off x="640080" y="2880360"/>
            <a:ext cx="374904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Visitors: 100,000+</a:t>
            </a:r>
            <a:endParaRPr lang="en-US" sz="1200" dirty="0"/>
          </a:p>
        </p:txBody>
      </p:sp>
      <p:sp>
        <p:nvSpPr>
          <p:cNvPr id="11" name="Text 9"/>
          <p:cNvSpPr/>
          <p:nvPr/>
        </p:nvSpPr>
        <p:spPr>
          <a:xfrm>
            <a:off x="640080" y="3291840"/>
            <a:ext cx="374904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Halls: 5 Venues</a:t>
            </a:r>
            <a:endParaRPr lang="en-US" sz="1200" dirty="0"/>
          </a:p>
        </p:txBody>
      </p:sp>
      <p:sp>
        <p:nvSpPr>
          <p:cNvPr id="12" name="Text 10"/>
          <p:cNvSpPr/>
          <p:nvPr/>
        </p:nvSpPr>
        <p:spPr>
          <a:xfrm>
            <a:off x="5029200" y="914400"/>
            <a:ext cx="3657600" cy="274320"/>
          </a:xfrm>
          <a:prstGeom prst="rect">
            <a:avLst/>
          </a:prstGeom>
          <a:noFill/>
          <a:ln/>
        </p:spPr>
        <p:txBody>
          <a:bodyPr wrap="square" lIns="0" tIns="0" rIns="0" bIns="0" rtlCol="0" anchor="ctr"/>
          <a:lstStyle/>
          <a:p>
            <a:pPr algn="l" indent="0" marL="0">
              <a:buNone/>
            </a:pPr>
            <a:r>
              <a:rPr lang="en-US" sz="1600" b="1" dirty="0">
                <a:solidFill>
                  <a:srgbClr val="1E3A8A"/>
                </a:solidFill>
                <a:latin typeface="Arial" pitchFamily="34" charset="0"/>
                <a:ea typeface="Arial" pitchFamily="34" charset="-122"/>
                <a:cs typeface="Arial" pitchFamily="34" charset="-120"/>
              </a:rPr>
              <a:t>Key Features</a:t>
            </a:r>
            <a:endParaRPr lang="en-US" sz="1600" dirty="0"/>
          </a:p>
        </p:txBody>
      </p:sp>
      <p:sp>
        <p:nvSpPr>
          <p:cNvPr id="13" name="Shape 11"/>
          <p:cNvSpPr/>
          <p:nvPr/>
        </p:nvSpPr>
        <p:spPr>
          <a:xfrm>
            <a:off x="5029200" y="1234440"/>
            <a:ext cx="45720" cy="2743200"/>
          </a:xfrm>
          <a:prstGeom prst="rect">
            <a:avLst/>
          </a:prstGeom>
          <a:solidFill>
            <a:srgbClr val="2563EB"/>
          </a:solidFill>
          <a:ln/>
        </p:spPr>
      </p:sp>
      <p:sp>
        <p:nvSpPr>
          <p:cNvPr id="14" name="Text 12"/>
          <p:cNvSpPr/>
          <p:nvPr/>
        </p:nvSpPr>
        <p:spPr>
          <a:xfrm>
            <a:off x="5212080" y="1234440"/>
            <a:ext cx="347472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Leather Products &amp; Footwear</a:t>
            </a:r>
            <a:endParaRPr lang="en-US" sz="1200" dirty="0"/>
          </a:p>
        </p:txBody>
      </p:sp>
      <p:sp>
        <p:nvSpPr>
          <p:cNvPr id="15" name="Text 13"/>
          <p:cNvSpPr/>
          <p:nvPr/>
        </p:nvSpPr>
        <p:spPr>
          <a:xfrm>
            <a:off x="5212080" y="1645920"/>
            <a:ext cx="347472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Machinery &amp; Technology</a:t>
            </a:r>
            <a:endParaRPr lang="en-US" sz="1200" dirty="0"/>
          </a:p>
        </p:txBody>
      </p:sp>
      <p:sp>
        <p:nvSpPr>
          <p:cNvPr id="16" name="Text 14"/>
          <p:cNvSpPr/>
          <p:nvPr/>
        </p:nvSpPr>
        <p:spPr>
          <a:xfrm>
            <a:off x="5212080" y="2057400"/>
            <a:ext cx="347472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Raw Materials</a:t>
            </a:r>
            <a:endParaRPr lang="en-US" sz="1200" dirty="0"/>
          </a:p>
        </p:txBody>
      </p:sp>
      <p:sp>
        <p:nvSpPr>
          <p:cNvPr id="17" name="Text 15"/>
          <p:cNvSpPr/>
          <p:nvPr/>
        </p:nvSpPr>
        <p:spPr>
          <a:xfrm>
            <a:off x="5212080" y="2468880"/>
            <a:ext cx="347472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Industry Services</a:t>
            </a:r>
            <a:endParaRPr lang="en-US" sz="1200" dirty="0"/>
          </a:p>
        </p:txBody>
      </p:sp>
      <p:sp>
        <p:nvSpPr>
          <p:cNvPr id="18" name="Text 16"/>
          <p:cNvSpPr/>
          <p:nvPr/>
        </p:nvSpPr>
        <p:spPr>
          <a:xfrm>
            <a:off x="5212080" y="2880360"/>
            <a:ext cx="347472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International Participants</a:t>
            </a:r>
            <a:endParaRPr lang="en-US" sz="1200" dirty="0"/>
          </a:p>
        </p:txBody>
      </p:sp>
      <p:sp>
        <p:nvSpPr>
          <p:cNvPr id="19" name="Text 17"/>
          <p:cNvSpPr/>
          <p:nvPr/>
        </p:nvSpPr>
        <p:spPr>
          <a:xfrm>
            <a:off x="5212080" y="3291840"/>
            <a:ext cx="3474720" cy="320040"/>
          </a:xfrm>
          <a:prstGeom prst="rect">
            <a:avLst/>
          </a:prstGeom>
          <a:noFill/>
          <a:ln/>
        </p:spPr>
        <p:txBody>
          <a:bodyPr wrap="square" lIns="0" tIns="0" rIns="0" bIns="0" rtlCol="0" anchor="ctr"/>
          <a:lstStyle/>
          <a:p>
            <a:pPr algn="l" indent="0" marL="0">
              <a:buNone/>
            </a:pPr>
            <a:r>
              <a:rPr lang="en-US" sz="1200" dirty="0">
                <a:solidFill>
                  <a:srgbClr val="374151"/>
                </a:solidFill>
                <a:latin typeface="Arial" pitchFamily="34" charset="0"/>
                <a:ea typeface="Arial" pitchFamily="34" charset="-122"/>
                <a:cs typeface="Arial" pitchFamily="34" charset="-120"/>
              </a:rPr>
              <a:t>🤝 B2B Networking</a:t>
            </a:r>
            <a:endParaRPr lang="en-US" sz="1200" dirty="0"/>
          </a:p>
        </p:txBody>
      </p:sp>
      <p:sp>
        <p:nvSpPr>
          <p:cNvPr id="20" name="Text 18"/>
          <p:cNvSpPr/>
          <p:nvPr/>
        </p:nvSpPr>
        <p:spPr>
          <a:xfrm>
            <a:off x="457200" y="4389120"/>
            <a:ext cx="8229600" cy="228600"/>
          </a:xfrm>
          <a:prstGeom prst="rect">
            <a:avLst/>
          </a:prstGeom>
          <a:noFill/>
          <a:ln/>
        </p:spPr>
        <p:txBody>
          <a:bodyPr wrap="square" lIns="0" tIns="0" rIns="0" bIns="0" rtlCol="0" anchor="ctr"/>
          <a:lstStyle/>
          <a:p>
            <a:pPr algn="l" indent="0" marL="0">
              <a:buNone/>
            </a:pPr>
            <a:r>
              <a:rPr lang="en-US" sz="1400" b="1" dirty="0">
                <a:solidFill>
                  <a:srgbClr val="1E3A8A"/>
                </a:solidFill>
                <a:latin typeface="Arial" pitchFamily="34" charset="0"/>
                <a:ea typeface="Arial" pitchFamily="34" charset="-122"/>
                <a:cs typeface="Arial" pitchFamily="34" charset="-120"/>
              </a:rPr>
              <a:t>Event Budget Breakdown</a:t>
            </a:r>
            <a:endParaRPr lang="en-US" sz="1400" dirty="0"/>
          </a:p>
        </p:txBody>
      </p:sp>
      <p:sp>
        <p:nvSpPr>
          <p:cNvPr id="21" name="Shape 19"/>
          <p:cNvSpPr/>
          <p:nvPr/>
        </p:nvSpPr>
        <p:spPr>
          <a:xfrm>
            <a:off x="457200" y="4663440"/>
            <a:ext cx="1920240" cy="365760"/>
          </a:xfrm>
          <a:prstGeom prst="rect">
            <a:avLst/>
          </a:prstGeom>
          <a:solidFill>
            <a:srgbClr val="F3F4F6"/>
          </a:solidFill>
          <a:ln w="12700">
            <a:solidFill>
              <a:srgbClr val="2563EB"/>
            </a:solidFill>
            <a:prstDash val="solid"/>
          </a:ln>
        </p:spPr>
      </p:sp>
      <p:sp>
        <p:nvSpPr>
          <p:cNvPr id="22" name="Text 20"/>
          <p:cNvSpPr/>
          <p:nvPr/>
        </p:nvSpPr>
        <p:spPr>
          <a:xfrm>
            <a:off x="548640" y="4681728"/>
            <a:ext cx="914400" cy="329184"/>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Rent</a:t>
            </a:r>
            <a:endParaRPr lang="en-US" sz="1100" dirty="0"/>
          </a:p>
        </p:txBody>
      </p:sp>
      <p:sp>
        <p:nvSpPr>
          <p:cNvPr id="23" name="Text 21"/>
          <p:cNvSpPr/>
          <p:nvPr/>
        </p:nvSpPr>
        <p:spPr>
          <a:xfrm>
            <a:off x="1463040" y="4681728"/>
            <a:ext cx="822960" cy="329184"/>
          </a:xfrm>
          <a:prstGeom prst="rect">
            <a:avLst/>
          </a:prstGeom>
          <a:noFill/>
          <a:ln/>
        </p:spPr>
        <p:txBody>
          <a:bodyPr wrap="square" lIns="0" tIns="0" rIns="0" bIns="0" rtlCol="0" anchor="ctr"/>
          <a:lstStyle/>
          <a:p>
            <a:pPr algn="r" indent="0" marL="0">
              <a:buNone/>
            </a:pPr>
            <a:r>
              <a:rPr lang="en-US" sz="1000" dirty="0">
                <a:solidFill>
                  <a:srgbClr val="2563EB"/>
                </a:solidFill>
                <a:latin typeface="Arial" pitchFamily="34" charset="0"/>
                <a:ea typeface="Arial" pitchFamily="34" charset="-122"/>
                <a:cs typeface="Arial" pitchFamily="34" charset="-120"/>
              </a:rPr>
              <a:t>₹10,00,000</a:t>
            </a:r>
            <a:endParaRPr lang="en-US" sz="1000" dirty="0"/>
          </a:p>
        </p:txBody>
      </p:sp>
      <p:sp>
        <p:nvSpPr>
          <p:cNvPr id="24" name="Shape 22"/>
          <p:cNvSpPr/>
          <p:nvPr/>
        </p:nvSpPr>
        <p:spPr>
          <a:xfrm>
            <a:off x="2468880" y="4663440"/>
            <a:ext cx="1920240" cy="365760"/>
          </a:xfrm>
          <a:prstGeom prst="rect">
            <a:avLst/>
          </a:prstGeom>
          <a:solidFill>
            <a:srgbClr val="F3F4F6"/>
          </a:solidFill>
          <a:ln w="12700">
            <a:solidFill>
              <a:srgbClr val="2563EB"/>
            </a:solidFill>
            <a:prstDash val="solid"/>
          </a:ln>
        </p:spPr>
      </p:sp>
      <p:sp>
        <p:nvSpPr>
          <p:cNvPr id="25" name="Text 23"/>
          <p:cNvSpPr/>
          <p:nvPr/>
        </p:nvSpPr>
        <p:spPr>
          <a:xfrm>
            <a:off x="2560320" y="4681728"/>
            <a:ext cx="914400" cy="329184"/>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Misc</a:t>
            </a:r>
            <a:endParaRPr lang="en-US" sz="1100" dirty="0"/>
          </a:p>
        </p:txBody>
      </p:sp>
      <p:sp>
        <p:nvSpPr>
          <p:cNvPr id="26" name="Text 24"/>
          <p:cNvSpPr/>
          <p:nvPr/>
        </p:nvSpPr>
        <p:spPr>
          <a:xfrm>
            <a:off x="3474720" y="4681728"/>
            <a:ext cx="822960" cy="329184"/>
          </a:xfrm>
          <a:prstGeom prst="rect">
            <a:avLst/>
          </a:prstGeom>
          <a:noFill/>
          <a:ln/>
        </p:spPr>
        <p:txBody>
          <a:bodyPr wrap="square" lIns="0" tIns="0" rIns="0" bIns="0" rtlCol="0" anchor="ctr"/>
          <a:lstStyle/>
          <a:p>
            <a:pPr algn="r" indent="0" marL="0">
              <a:buNone/>
            </a:pPr>
            <a:r>
              <a:rPr lang="en-US" sz="1000" dirty="0">
                <a:solidFill>
                  <a:srgbClr val="2563EB"/>
                </a:solidFill>
                <a:latin typeface="Arial" pitchFamily="34" charset="0"/>
                <a:ea typeface="Arial" pitchFamily="34" charset="-122"/>
                <a:cs typeface="Arial" pitchFamily="34" charset="-120"/>
              </a:rPr>
              <a:t>₹20,00,000</a:t>
            </a:r>
            <a:endParaRPr lang="en-US" sz="1000" dirty="0"/>
          </a:p>
        </p:txBody>
      </p:sp>
      <p:sp>
        <p:nvSpPr>
          <p:cNvPr id="27" name="Shape 25"/>
          <p:cNvSpPr/>
          <p:nvPr/>
        </p:nvSpPr>
        <p:spPr>
          <a:xfrm>
            <a:off x="4480560" y="4663440"/>
            <a:ext cx="1920240" cy="365760"/>
          </a:xfrm>
          <a:prstGeom prst="rect">
            <a:avLst/>
          </a:prstGeom>
          <a:solidFill>
            <a:srgbClr val="F3F4F6"/>
          </a:solidFill>
          <a:ln w="12700">
            <a:solidFill>
              <a:srgbClr val="2563EB"/>
            </a:solidFill>
            <a:prstDash val="solid"/>
          </a:ln>
        </p:spPr>
      </p:sp>
      <p:sp>
        <p:nvSpPr>
          <p:cNvPr id="28" name="Text 26"/>
          <p:cNvSpPr/>
          <p:nvPr/>
        </p:nvSpPr>
        <p:spPr>
          <a:xfrm>
            <a:off x="4572000" y="4681728"/>
            <a:ext cx="914400" cy="329184"/>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Speakers</a:t>
            </a:r>
            <a:endParaRPr lang="en-US" sz="1100" dirty="0"/>
          </a:p>
        </p:txBody>
      </p:sp>
      <p:sp>
        <p:nvSpPr>
          <p:cNvPr id="29" name="Text 27"/>
          <p:cNvSpPr/>
          <p:nvPr/>
        </p:nvSpPr>
        <p:spPr>
          <a:xfrm>
            <a:off x="5486400" y="4681728"/>
            <a:ext cx="822960" cy="329184"/>
          </a:xfrm>
          <a:prstGeom prst="rect">
            <a:avLst/>
          </a:prstGeom>
          <a:noFill/>
          <a:ln/>
        </p:spPr>
        <p:txBody>
          <a:bodyPr wrap="square" lIns="0" tIns="0" rIns="0" bIns="0" rtlCol="0" anchor="ctr"/>
          <a:lstStyle/>
          <a:p>
            <a:pPr algn="r" indent="0" marL="0">
              <a:buNone/>
            </a:pPr>
            <a:r>
              <a:rPr lang="en-US" sz="1000" dirty="0">
                <a:solidFill>
                  <a:srgbClr val="2563EB"/>
                </a:solidFill>
                <a:latin typeface="Arial" pitchFamily="34" charset="0"/>
                <a:ea typeface="Arial" pitchFamily="34" charset="-122"/>
                <a:cs typeface="Arial" pitchFamily="34" charset="-120"/>
              </a:rPr>
              <a:t>₹4,50,000</a:t>
            </a:r>
            <a:endParaRPr lang="en-US" sz="1000" dirty="0"/>
          </a:p>
        </p:txBody>
      </p:sp>
      <p:sp>
        <p:nvSpPr>
          <p:cNvPr id="30" name="Shape 28"/>
          <p:cNvSpPr/>
          <p:nvPr/>
        </p:nvSpPr>
        <p:spPr>
          <a:xfrm>
            <a:off x="6492240" y="4663440"/>
            <a:ext cx="1920240" cy="365760"/>
          </a:xfrm>
          <a:prstGeom prst="rect">
            <a:avLst/>
          </a:prstGeom>
          <a:solidFill>
            <a:srgbClr val="F3F4F6"/>
          </a:solidFill>
          <a:ln w="12700">
            <a:solidFill>
              <a:srgbClr val="2563EB"/>
            </a:solidFill>
            <a:prstDash val="solid"/>
          </a:ln>
        </p:spPr>
      </p:sp>
      <p:sp>
        <p:nvSpPr>
          <p:cNvPr id="31" name="Text 29"/>
          <p:cNvSpPr/>
          <p:nvPr/>
        </p:nvSpPr>
        <p:spPr>
          <a:xfrm>
            <a:off x="6583680" y="4681728"/>
            <a:ext cx="914400" cy="329184"/>
          </a:xfrm>
          <a:prstGeom prst="rect">
            <a:avLst/>
          </a:prstGeom>
          <a:noFill/>
          <a:ln/>
        </p:spPr>
        <p:txBody>
          <a:bodyPr wrap="square" lIns="0" tIns="0" rIns="0" bIns="0" rtlCol="0" anchor="ctr"/>
          <a:lstStyle/>
          <a:p>
            <a:pPr algn="ctr" indent="0" marL="0">
              <a:buNone/>
            </a:pPr>
            <a:r>
              <a:rPr lang="en-US" sz="1100" b="1" dirty="0">
                <a:solidFill>
                  <a:srgbClr val="374151"/>
                </a:solidFill>
                <a:latin typeface="Arial" pitchFamily="34" charset="0"/>
                <a:ea typeface="Arial" pitchFamily="34" charset="-122"/>
                <a:cs typeface="Arial" pitchFamily="34" charset="-120"/>
              </a:rPr>
              <a:t>Decoration</a:t>
            </a:r>
            <a:endParaRPr lang="en-US" sz="1100" dirty="0"/>
          </a:p>
        </p:txBody>
      </p:sp>
      <p:sp>
        <p:nvSpPr>
          <p:cNvPr id="32" name="Text 30"/>
          <p:cNvSpPr/>
          <p:nvPr/>
        </p:nvSpPr>
        <p:spPr>
          <a:xfrm>
            <a:off x="7498080" y="4681728"/>
            <a:ext cx="822960" cy="329184"/>
          </a:xfrm>
          <a:prstGeom prst="rect">
            <a:avLst/>
          </a:prstGeom>
          <a:noFill/>
          <a:ln/>
        </p:spPr>
        <p:txBody>
          <a:bodyPr wrap="square" lIns="0" tIns="0" rIns="0" bIns="0" rtlCol="0" anchor="ctr"/>
          <a:lstStyle/>
          <a:p>
            <a:pPr algn="r" indent="0" marL="0">
              <a:buNone/>
            </a:pPr>
            <a:r>
              <a:rPr lang="en-US" sz="1000" dirty="0">
                <a:solidFill>
                  <a:srgbClr val="2563EB"/>
                </a:solidFill>
                <a:latin typeface="Arial" pitchFamily="34" charset="0"/>
                <a:ea typeface="Arial" pitchFamily="34" charset="-122"/>
                <a:cs typeface="Arial" pitchFamily="34" charset="-120"/>
              </a:rPr>
              <a:t>₹2,00,000</a:t>
            </a:r>
            <a:endParaRPr lang="en-US" sz="1000" dirty="0"/>
          </a:p>
        </p:txBody>
      </p:sp>
      <p:sp>
        <p:nvSpPr>
          <p:cNvPr id="33" name="Text 31"/>
          <p:cNvSpPr/>
          <p:nvPr/>
        </p:nvSpPr>
        <p:spPr>
          <a:xfrm>
            <a:off x="8046720" y="4663440"/>
            <a:ext cx="914400" cy="365760"/>
          </a:xfrm>
          <a:prstGeom prst="rect">
            <a:avLst/>
          </a:prstGeom>
          <a:solidFill>
            <a:srgbClr val="2563EB"/>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TOTAL: ₹42,80,000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563EB"/>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LEATHER TYPES &amp; TOP PARTICIPANTS</a:t>
            </a:r>
            <a:endParaRPr lang="en-US" sz="3200" dirty="0"/>
          </a:p>
        </p:txBody>
      </p:sp>
      <p:sp>
        <p:nvSpPr>
          <p:cNvPr id="4" name="Text 2"/>
          <p:cNvSpPr/>
          <p:nvPr/>
        </p:nvSpPr>
        <p:spPr>
          <a:xfrm>
            <a:off x="457200" y="914400"/>
            <a:ext cx="4114800" cy="274320"/>
          </a:xfrm>
          <a:prstGeom prst="rect">
            <a:avLst/>
          </a:prstGeom>
          <a:noFill/>
          <a:ln/>
        </p:spPr>
        <p:txBody>
          <a:bodyPr wrap="square" lIns="0" tIns="0" rIns="0" bIns="0" rtlCol="0" anchor="ctr"/>
          <a:lstStyle/>
          <a:p>
            <a:pPr algn="l" indent="0" marL="0">
              <a:buNone/>
            </a:pPr>
            <a:r>
              <a:rPr lang="en-US" sz="1400" b="1" dirty="0">
                <a:solidFill>
                  <a:srgbClr val="1E3A8A"/>
                </a:solidFill>
                <a:latin typeface="Arial" pitchFamily="34" charset="0"/>
                <a:ea typeface="Arial" pitchFamily="34" charset="-122"/>
                <a:cs typeface="Arial" pitchFamily="34" charset="-120"/>
              </a:rPr>
              <a:t>Leather Categories</a:t>
            </a:r>
            <a:endParaRPr lang="en-US" sz="1400" dirty="0"/>
          </a:p>
        </p:txBody>
      </p:sp>
      <p:sp>
        <p:nvSpPr>
          <p:cNvPr id="5" name="Shape 3"/>
          <p:cNvSpPr/>
          <p:nvPr/>
        </p:nvSpPr>
        <p:spPr>
          <a:xfrm>
            <a:off x="457200" y="1280160"/>
            <a:ext cx="73152" cy="256032"/>
          </a:xfrm>
          <a:prstGeom prst="rect">
            <a:avLst/>
          </a:prstGeom>
          <a:solidFill>
            <a:srgbClr val="2563EB"/>
          </a:solidFill>
          <a:ln/>
        </p:spPr>
      </p:sp>
      <p:sp>
        <p:nvSpPr>
          <p:cNvPr id="6" name="Text 4"/>
          <p:cNvSpPr/>
          <p:nvPr/>
        </p:nvSpPr>
        <p:spPr>
          <a:xfrm>
            <a:off x="640080" y="128016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Full Grain Leather</a:t>
            </a:r>
            <a:endParaRPr lang="en-US" sz="1100" dirty="0"/>
          </a:p>
        </p:txBody>
      </p:sp>
      <p:sp>
        <p:nvSpPr>
          <p:cNvPr id="7" name="Shape 5"/>
          <p:cNvSpPr/>
          <p:nvPr/>
        </p:nvSpPr>
        <p:spPr>
          <a:xfrm>
            <a:off x="457200" y="1600200"/>
            <a:ext cx="73152" cy="256032"/>
          </a:xfrm>
          <a:prstGeom prst="rect">
            <a:avLst/>
          </a:prstGeom>
          <a:solidFill>
            <a:srgbClr val="2563EB"/>
          </a:solidFill>
          <a:ln/>
        </p:spPr>
      </p:sp>
      <p:sp>
        <p:nvSpPr>
          <p:cNvPr id="8" name="Text 6"/>
          <p:cNvSpPr/>
          <p:nvPr/>
        </p:nvSpPr>
        <p:spPr>
          <a:xfrm>
            <a:off x="640080" y="160020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Genuine Leather</a:t>
            </a:r>
            <a:endParaRPr lang="en-US" sz="1100" dirty="0"/>
          </a:p>
        </p:txBody>
      </p:sp>
      <p:sp>
        <p:nvSpPr>
          <p:cNvPr id="9" name="Shape 7"/>
          <p:cNvSpPr/>
          <p:nvPr/>
        </p:nvSpPr>
        <p:spPr>
          <a:xfrm>
            <a:off x="457200" y="1920240"/>
            <a:ext cx="73152" cy="256032"/>
          </a:xfrm>
          <a:prstGeom prst="rect">
            <a:avLst/>
          </a:prstGeom>
          <a:solidFill>
            <a:srgbClr val="2563EB"/>
          </a:solidFill>
          <a:ln/>
        </p:spPr>
      </p:sp>
      <p:sp>
        <p:nvSpPr>
          <p:cNvPr id="10" name="Text 8"/>
          <p:cNvSpPr/>
          <p:nvPr/>
        </p:nvSpPr>
        <p:spPr>
          <a:xfrm>
            <a:off x="640080" y="192024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Nubuck Leather</a:t>
            </a:r>
            <a:endParaRPr lang="en-US" sz="1100" dirty="0"/>
          </a:p>
        </p:txBody>
      </p:sp>
      <p:sp>
        <p:nvSpPr>
          <p:cNvPr id="11" name="Shape 9"/>
          <p:cNvSpPr/>
          <p:nvPr/>
        </p:nvSpPr>
        <p:spPr>
          <a:xfrm>
            <a:off x="457200" y="2240280"/>
            <a:ext cx="73152" cy="256032"/>
          </a:xfrm>
          <a:prstGeom prst="rect">
            <a:avLst/>
          </a:prstGeom>
          <a:solidFill>
            <a:srgbClr val="2563EB"/>
          </a:solidFill>
          <a:ln/>
        </p:spPr>
      </p:sp>
      <p:sp>
        <p:nvSpPr>
          <p:cNvPr id="12" name="Text 10"/>
          <p:cNvSpPr/>
          <p:nvPr/>
        </p:nvSpPr>
        <p:spPr>
          <a:xfrm>
            <a:off x="640080" y="224028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Bonded Leather</a:t>
            </a:r>
            <a:endParaRPr lang="en-US" sz="1100" dirty="0"/>
          </a:p>
        </p:txBody>
      </p:sp>
      <p:sp>
        <p:nvSpPr>
          <p:cNvPr id="13" name="Shape 11"/>
          <p:cNvSpPr/>
          <p:nvPr/>
        </p:nvSpPr>
        <p:spPr>
          <a:xfrm>
            <a:off x="457200" y="2560320"/>
            <a:ext cx="73152" cy="256032"/>
          </a:xfrm>
          <a:prstGeom prst="rect">
            <a:avLst/>
          </a:prstGeom>
          <a:solidFill>
            <a:srgbClr val="2563EB"/>
          </a:solidFill>
          <a:ln/>
        </p:spPr>
      </p:sp>
      <p:sp>
        <p:nvSpPr>
          <p:cNvPr id="14" name="Text 12"/>
          <p:cNvSpPr/>
          <p:nvPr/>
        </p:nvSpPr>
        <p:spPr>
          <a:xfrm>
            <a:off x="640080" y="256032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Deerskin Leather</a:t>
            </a:r>
            <a:endParaRPr lang="en-US" sz="1100" dirty="0"/>
          </a:p>
        </p:txBody>
      </p:sp>
      <p:sp>
        <p:nvSpPr>
          <p:cNvPr id="15" name="Shape 13"/>
          <p:cNvSpPr/>
          <p:nvPr/>
        </p:nvSpPr>
        <p:spPr>
          <a:xfrm>
            <a:off x="457200" y="2880360"/>
            <a:ext cx="73152" cy="256032"/>
          </a:xfrm>
          <a:prstGeom prst="rect">
            <a:avLst/>
          </a:prstGeom>
          <a:solidFill>
            <a:srgbClr val="2563EB"/>
          </a:solidFill>
          <a:ln/>
        </p:spPr>
      </p:sp>
      <p:sp>
        <p:nvSpPr>
          <p:cNvPr id="16" name="Text 14"/>
          <p:cNvSpPr/>
          <p:nvPr/>
        </p:nvSpPr>
        <p:spPr>
          <a:xfrm>
            <a:off x="640080" y="288036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Goatskin Leather</a:t>
            </a:r>
            <a:endParaRPr lang="en-US" sz="1100" dirty="0"/>
          </a:p>
        </p:txBody>
      </p:sp>
      <p:sp>
        <p:nvSpPr>
          <p:cNvPr id="17" name="Shape 15"/>
          <p:cNvSpPr/>
          <p:nvPr/>
        </p:nvSpPr>
        <p:spPr>
          <a:xfrm>
            <a:off x="457200" y="3200400"/>
            <a:ext cx="73152" cy="256032"/>
          </a:xfrm>
          <a:prstGeom prst="rect">
            <a:avLst/>
          </a:prstGeom>
          <a:solidFill>
            <a:srgbClr val="2563EB"/>
          </a:solidFill>
          <a:ln/>
        </p:spPr>
      </p:sp>
      <p:sp>
        <p:nvSpPr>
          <p:cNvPr id="18" name="Text 16"/>
          <p:cNvSpPr/>
          <p:nvPr/>
        </p:nvSpPr>
        <p:spPr>
          <a:xfrm>
            <a:off x="640080" y="320040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Lambskin Leather</a:t>
            </a:r>
            <a:endParaRPr lang="en-US" sz="1100" dirty="0"/>
          </a:p>
        </p:txBody>
      </p:sp>
      <p:sp>
        <p:nvSpPr>
          <p:cNvPr id="19" name="Shape 17"/>
          <p:cNvSpPr/>
          <p:nvPr/>
        </p:nvSpPr>
        <p:spPr>
          <a:xfrm>
            <a:off x="457200" y="3520440"/>
            <a:ext cx="73152" cy="256032"/>
          </a:xfrm>
          <a:prstGeom prst="rect">
            <a:avLst/>
          </a:prstGeom>
          <a:solidFill>
            <a:srgbClr val="2563EB"/>
          </a:solidFill>
          <a:ln/>
        </p:spPr>
      </p:sp>
      <p:sp>
        <p:nvSpPr>
          <p:cNvPr id="20" name="Text 18"/>
          <p:cNvSpPr/>
          <p:nvPr/>
        </p:nvSpPr>
        <p:spPr>
          <a:xfrm>
            <a:off x="640080" y="3520440"/>
            <a:ext cx="374904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Bridal Leather</a:t>
            </a:r>
            <a:endParaRPr lang="en-US" sz="1100" dirty="0"/>
          </a:p>
        </p:txBody>
      </p:sp>
      <p:sp>
        <p:nvSpPr>
          <p:cNvPr id="21" name="Text 19"/>
          <p:cNvSpPr/>
          <p:nvPr/>
        </p:nvSpPr>
        <p:spPr>
          <a:xfrm>
            <a:off x="5029200" y="914400"/>
            <a:ext cx="3657600" cy="274320"/>
          </a:xfrm>
          <a:prstGeom prst="rect">
            <a:avLst/>
          </a:prstGeom>
          <a:noFill/>
          <a:ln/>
        </p:spPr>
        <p:txBody>
          <a:bodyPr wrap="square" lIns="0" tIns="0" rIns="0" bIns="0" rtlCol="0" anchor="ctr"/>
          <a:lstStyle/>
          <a:p>
            <a:pPr algn="l" indent="0" marL="0">
              <a:buNone/>
            </a:pPr>
            <a:r>
              <a:rPr lang="en-US" sz="1400" b="1" dirty="0">
                <a:solidFill>
                  <a:srgbClr val="1E3A8A"/>
                </a:solidFill>
                <a:latin typeface="Arial" pitchFamily="34" charset="0"/>
                <a:ea typeface="Arial" pitchFamily="34" charset="-122"/>
                <a:cs typeface="Arial" pitchFamily="34" charset="-120"/>
              </a:rPr>
              <a:t>Top 10 Participants</a:t>
            </a:r>
            <a:endParaRPr lang="en-US" sz="1400" dirty="0"/>
          </a:p>
        </p:txBody>
      </p:sp>
      <p:sp>
        <p:nvSpPr>
          <p:cNvPr id="22" name="Text 20"/>
          <p:cNvSpPr/>
          <p:nvPr/>
        </p:nvSpPr>
        <p:spPr>
          <a:xfrm>
            <a:off x="5029200" y="128016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1. Dr Eberle Clever Chemistry</a:t>
            </a:r>
            <a:endParaRPr lang="en-US" sz="1000" dirty="0"/>
          </a:p>
        </p:txBody>
      </p:sp>
      <p:sp>
        <p:nvSpPr>
          <p:cNvPr id="23" name="Text 21"/>
          <p:cNvSpPr/>
          <p:nvPr/>
        </p:nvSpPr>
        <p:spPr>
          <a:xfrm>
            <a:off x="5029200" y="155448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2. K.B. Polychem</a:t>
            </a:r>
            <a:endParaRPr lang="en-US" sz="1000" dirty="0"/>
          </a:p>
        </p:txBody>
      </p:sp>
      <p:sp>
        <p:nvSpPr>
          <p:cNvPr id="24" name="Text 22"/>
          <p:cNvSpPr/>
          <p:nvPr/>
        </p:nvSpPr>
        <p:spPr>
          <a:xfrm>
            <a:off x="5029200" y="182880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3. RIKA</a:t>
            </a:r>
            <a:endParaRPr lang="en-US" sz="1000" dirty="0"/>
          </a:p>
        </p:txBody>
      </p:sp>
      <p:sp>
        <p:nvSpPr>
          <p:cNvPr id="25" name="Text 23"/>
          <p:cNvSpPr/>
          <p:nvPr/>
        </p:nvSpPr>
        <p:spPr>
          <a:xfrm>
            <a:off x="5029200" y="210312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4. Ring Maschinen</a:t>
            </a:r>
            <a:endParaRPr lang="en-US" sz="1000" dirty="0"/>
          </a:p>
        </p:txBody>
      </p:sp>
      <p:sp>
        <p:nvSpPr>
          <p:cNvPr id="26" name="Text 24"/>
          <p:cNvSpPr/>
          <p:nvPr/>
        </p:nvSpPr>
        <p:spPr>
          <a:xfrm>
            <a:off x="5029200" y="237744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5. Blue Hawk International</a:t>
            </a:r>
            <a:endParaRPr lang="en-US" sz="1000" dirty="0"/>
          </a:p>
        </p:txBody>
      </p:sp>
      <p:sp>
        <p:nvSpPr>
          <p:cNvPr id="27" name="Text 25"/>
          <p:cNvSpPr/>
          <p:nvPr/>
        </p:nvSpPr>
        <p:spPr>
          <a:xfrm>
            <a:off x="5029200" y="265176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6. Eco Shoe Accessories</a:t>
            </a:r>
            <a:endParaRPr lang="en-US" sz="1000" dirty="0"/>
          </a:p>
        </p:txBody>
      </p:sp>
      <p:sp>
        <p:nvSpPr>
          <p:cNvPr id="28" name="Text 26"/>
          <p:cNvSpPr/>
          <p:nvPr/>
        </p:nvSpPr>
        <p:spPr>
          <a:xfrm>
            <a:off x="5029200" y="292608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7. Techno Marketing</a:t>
            </a:r>
            <a:endParaRPr lang="en-US" sz="1000" dirty="0"/>
          </a:p>
        </p:txBody>
      </p:sp>
      <p:sp>
        <p:nvSpPr>
          <p:cNvPr id="29" name="Text 27"/>
          <p:cNvSpPr/>
          <p:nvPr/>
        </p:nvSpPr>
        <p:spPr>
          <a:xfrm>
            <a:off x="5029200" y="320040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8. New Gen Garment Industry</a:t>
            </a:r>
            <a:endParaRPr lang="en-US" sz="1000" dirty="0"/>
          </a:p>
        </p:txBody>
      </p:sp>
      <p:sp>
        <p:nvSpPr>
          <p:cNvPr id="30" name="Text 28"/>
          <p:cNvSpPr/>
          <p:nvPr/>
        </p:nvSpPr>
        <p:spPr>
          <a:xfrm>
            <a:off x="5029200" y="347472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9. Bader GMBH</a:t>
            </a:r>
            <a:endParaRPr lang="en-US" sz="1000" dirty="0"/>
          </a:p>
        </p:txBody>
      </p:sp>
      <p:sp>
        <p:nvSpPr>
          <p:cNvPr id="31" name="Text 29"/>
          <p:cNvSpPr/>
          <p:nvPr/>
        </p:nvSpPr>
        <p:spPr>
          <a:xfrm>
            <a:off x="5029200" y="374904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10. Desma Schuhmaschinen</a:t>
            </a:r>
            <a:endParaRPr lang="en-US" sz="1000" dirty="0"/>
          </a:p>
        </p:txBody>
      </p:sp>
      <p:sp>
        <p:nvSpPr>
          <p:cNvPr id="32" name="Shape 30"/>
          <p:cNvSpPr/>
          <p:nvPr/>
        </p:nvSpPr>
        <p:spPr>
          <a:xfrm>
            <a:off x="457200" y="4206240"/>
            <a:ext cx="8229600" cy="822960"/>
          </a:xfrm>
          <a:prstGeom prst="rect">
            <a:avLst/>
          </a:prstGeom>
          <a:solidFill>
            <a:srgbClr val="F3F4F6"/>
          </a:solidFill>
          <a:ln w="25400">
            <a:solidFill>
              <a:srgbClr val="2563EB"/>
            </a:solidFill>
            <a:prstDash val="solid"/>
          </a:ln>
        </p:spPr>
      </p:sp>
      <p:sp>
        <p:nvSpPr>
          <p:cNvPr id="33" name="Text 31"/>
          <p:cNvSpPr/>
          <p:nvPr/>
        </p:nvSpPr>
        <p:spPr>
          <a:xfrm>
            <a:off x="640080" y="4297680"/>
            <a:ext cx="1828800" cy="228600"/>
          </a:xfrm>
          <a:prstGeom prst="rect">
            <a:avLst/>
          </a:prstGeom>
          <a:noFill/>
          <a:ln/>
        </p:spPr>
        <p:txBody>
          <a:bodyPr wrap="square" lIns="0" tIns="0" rIns="0" bIns="0" rtlCol="0" anchor="ctr"/>
          <a:lstStyle/>
          <a:p>
            <a:pPr algn="l" indent="0" marL="0">
              <a:buNone/>
            </a:pPr>
            <a:r>
              <a:rPr lang="en-US" sz="1200" b="1" dirty="0">
                <a:solidFill>
                  <a:srgbClr val="1E3A8A"/>
                </a:solidFill>
                <a:latin typeface="Arial" pitchFamily="34" charset="0"/>
                <a:ea typeface="Arial" pitchFamily="34" charset="-122"/>
                <a:cs typeface="Arial" pitchFamily="34" charset="-120"/>
              </a:rPr>
              <a:t>Impact &amp; Learning:</a:t>
            </a:r>
            <a:endParaRPr lang="en-US" sz="1200" dirty="0"/>
          </a:p>
        </p:txBody>
      </p:sp>
      <p:sp>
        <p:nvSpPr>
          <p:cNvPr id="34" name="Text 32"/>
          <p:cNvSpPr/>
          <p:nvPr/>
        </p:nvSpPr>
        <p:spPr>
          <a:xfrm>
            <a:off x="2743200" y="4297680"/>
            <a:ext cx="5760720" cy="640080"/>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Post-pandemic revival demonstrated industry resilience. Students gained exposure to manufacturing processes, international trade, and B2B practices. 100,000+ visitors showcased global market demand for leather products.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DC2626"/>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CHENNAI BOOK FAIR 2023</a:t>
            </a:r>
            <a:endParaRPr lang="en-US" sz="3200" dirty="0"/>
          </a:p>
        </p:txBody>
      </p:sp>
      <p:sp>
        <p:nvSpPr>
          <p:cNvPr id="4" name="Text 2"/>
          <p:cNvSpPr/>
          <p:nvPr/>
        </p:nvSpPr>
        <p:spPr>
          <a:xfrm>
            <a:off x="457200" y="914400"/>
            <a:ext cx="4114800" cy="274320"/>
          </a:xfrm>
          <a:prstGeom prst="rect">
            <a:avLst/>
          </a:prstGeom>
          <a:noFill/>
          <a:ln/>
        </p:spPr>
        <p:txBody>
          <a:bodyPr wrap="square" lIns="0" tIns="0" rIns="0" bIns="0" rtlCol="0" anchor="ctr"/>
          <a:lstStyle/>
          <a:p>
            <a:pPr algn="l" indent="0" marL="0">
              <a:buNone/>
            </a:pPr>
            <a:r>
              <a:rPr lang="en-US" sz="1400" b="1" dirty="0">
                <a:solidFill>
                  <a:srgbClr val="1E3A8A"/>
                </a:solidFill>
                <a:latin typeface="Arial" pitchFamily="34" charset="0"/>
                <a:ea typeface="Arial" pitchFamily="34" charset="-122"/>
                <a:cs typeface="Arial" pitchFamily="34" charset="-120"/>
              </a:rPr>
              <a:t>Event Information</a:t>
            </a:r>
            <a:endParaRPr lang="en-US" sz="1400" dirty="0"/>
          </a:p>
        </p:txBody>
      </p:sp>
      <p:sp>
        <p:nvSpPr>
          <p:cNvPr id="5" name="Shape 3"/>
          <p:cNvSpPr/>
          <p:nvPr/>
        </p:nvSpPr>
        <p:spPr>
          <a:xfrm>
            <a:off x="457200" y="1234440"/>
            <a:ext cx="45720" cy="2926080"/>
          </a:xfrm>
          <a:prstGeom prst="rect">
            <a:avLst/>
          </a:prstGeom>
          <a:solidFill>
            <a:srgbClr val="DC2626"/>
          </a:solidFill>
          <a:ln/>
        </p:spPr>
      </p:sp>
      <p:sp>
        <p:nvSpPr>
          <p:cNvPr id="6" name="Text 4"/>
          <p:cNvSpPr/>
          <p:nvPr/>
        </p:nvSpPr>
        <p:spPr>
          <a:xfrm>
            <a:off x="640080" y="123444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46th Edition</a:t>
            </a:r>
            <a:endParaRPr lang="en-US" sz="1100" dirty="0"/>
          </a:p>
        </p:txBody>
      </p:sp>
      <p:sp>
        <p:nvSpPr>
          <p:cNvPr id="7" name="Text 5"/>
          <p:cNvSpPr/>
          <p:nvPr/>
        </p:nvSpPr>
        <p:spPr>
          <a:xfrm>
            <a:off x="640080" y="160020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Jan 6-22, 2023 (17 days)</a:t>
            </a:r>
            <a:endParaRPr lang="en-US" sz="1100" dirty="0"/>
          </a:p>
        </p:txBody>
      </p:sp>
      <p:sp>
        <p:nvSpPr>
          <p:cNvPr id="8" name="Text 6"/>
          <p:cNvSpPr/>
          <p:nvPr/>
        </p:nvSpPr>
        <p:spPr>
          <a:xfrm>
            <a:off x="640080" y="196596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YMCA College, Nandanam</a:t>
            </a:r>
            <a:endParaRPr lang="en-US" sz="1100" dirty="0"/>
          </a:p>
        </p:txBody>
      </p:sp>
      <p:sp>
        <p:nvSpPr>
          <p:cNvPr id="9" name="Text 7"/>
          <p:cNvSpPr/>
          <p:nvPr/>
        </p:nvSpPr>
        <p:spPr>
          <a:xfrm>
            <a:off x="640080" y="233172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Inaugurated by: MK Stalin</a:t>
            </a:r>
            <a:endParaRPr lang="en-US" sz="1100" dirty="0"/>
          </a:p>
        </p:txBody>
      </p:sp>
      <p:sp>
        <p:nvSpPr>
          <p:cNvPr id="10" name="Text 8"/>
          <p:cNvSpPr/>
          <p:nvPr/>
        </p:nvSpPr>
        <p:spPr>
          <a:xfrm>
            <a:off x="640080" y="269748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Stalls: 1,000+</a:t>
            </a:r>
            <a:endParaRPr lang="en-US" sz="1100" dirty="0"/>
          </a:p>
        </p:txBody>
      </p:sp>
      <p:sp>
        <p:nvSpPr>
          <p:cNvPr id="11" name="Text 9"/>
          <p:cNvSpPr/>
          <p:nvPr/>
        </p:nvSpPr>
        <p:spPr>
          <a:xfrm>
            <a:off x="640080" y="306324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Visitors: 600,000+</a:t>
            </a:r>
            <a:endParaRPr lang="en-US" sz="1100" dirty="0"/>
          </a:p>
        </p:txBody>
      </p:sp>
      <p:sp>
        <p:nvSpPr>
          <p:cNvPr id="12" name="Text 10"/>
          <p:cNvSpPr/>
          <p:nvPr/>
        </p:nvSpPr>
        <p:spPr>
          <a:xfrm>
            <a:off x="640080" y="342900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Titles: 1,000,000+</a:t>
            </a:r>
            <a:endParaRPr lang="en-US" sz="1100" dirty="0"/>
          </a:p>
        </p:txBody>
      </p:sp>
      <p:sp>
        <p:nvSpPr>
          <p:cNvPr id="13" name="Text 11"/>
          <p:cNvSpPr/>
          <p:nvPr/>
        </p:nvSpPr>
        <p:spPr>
          <a:xfrm>
            <a:off x="640080" y="3794760"/>
            <a:ext cx="374904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Countries: 40+</a:t>
            </a:r>
            <a:endParaRPr lang="en-US" sz="1100" dirty="0"/>
          </a:p>
        </p:txBody>
      </p:sp>
      <p:sp>
        <p:nvSpPr>
          <p:cNvPr id="14" name="Text 12"/>
          <p:cNvSpPr/>
          <p:nvPr/>
        </p:nvSpPr>
        <p:spPr>
          <a:xfrm>
            <a:off x="5029200" y="914400"/>
            <a:ext cx="3657600" cy="274320"/>
          </a:xfrm>
          <a:prstGeom prst="rect">
            <a:avLst/>
          </a:prstGeom>
          <a:noFill/>
          <a:ln/>
        </p:spPr>
        <p:txBody>
          <a:bodyPr wrap="square" lIns="0" tIns="0" rIns="0" bIns="0" rtlCol="0" anchor="ctr"/>
          <a:lstStyle/>
          <a:p>
            <a:pPr algn="l" indent="0" marL="0">
              <a:buNone/>
            </a:pPr>
            <a:r>
              <a:rPr lang="en-US" sz="1400" b="1" dirty="0">
                <a:solidFill>
                  <a:srgbClr val="1E3A8A"/>
                </a:solidFill>
                <a:latin typeface="Arial" pitchFamily="34" charset="0"/>
                <a:ea typeface="Arial" pitchFamily="34" charset="-122"/>
                <a:cs typeface="Arial" pitchFamily="34" charset="-120"/>
              </a:rPr>
              <a:t>Special Features</a:t>
            </a:r>
            <a:endParaRPr lang="en-US" sz="1400" dirty="0"/>
          </a:p>
        </p:txBody>
      </p:sp>
      <p:sp>
        <p:nvSpPr>
          <p:cNvPr id="15" name="Shape 13"/>
          <p:cNvSpPr/>
          <p:nvPr/>
        </p:nvSpPr>
        <p:spPr>
          <a:xfrm>
            <a:off x="5029200" y="1234440"/>
            <a:ext cx="45720" cy="2926080"/>
          </a:xfrm>
          <a:prstGeom prst="rect">
            <a:avLst/>
          </a:prstGeom>
          <a:solidFill>
            <a:srgbClr val="DC2626"/>
          </a:solidFill>
          <a:ln/>
        </p:spPr>
      </p:sp>
      <p:sp>
        <p:nvSpPr>
          <p:cNvPr id="16" name="Text 14"/>
          <p:cNvSpPr/>
          <p:nvPr/>
        </p:nvSpPr>
        <p:spPr>
          <a:xfrm>
            <a:off x="5212080" y="123444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International Book Fair</a:t>
            </a:r>
            <a:endParaRPr lang="en-US" sz="1100" dirty="0"/>
          </a:p>
        </p:txBody>
      </p:sp>
      <p:sp>
        <p:nvSpPr>
          <p:cNvPr id="17" name="Text 15"/>
          <p:cNvSpPr/>
          <p:nvPr/>
        </p:nvSpPr>
        <p:spPr>
          <a:xfrm>
            <a:off x="5212080" y="160020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Queer Publishing House</a:t>
            </a:r>
            <a:endParaRPr lang="en-US" sz="1100" dirty="0"/>
          </a:p>
        </p:txBody>
      </p:sp>
      <p:sp>
        <p:nvSpPr>
          <p:cNvPr id="18" name="Text 16"/>
          <p:cNvSpPr/>
          <p:nvPr/>
        </p:nvSpPr>
        <p:spPr>
          <a:xfrm>
            <a:off x="5212080" y="196596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200+ New Stalls</a:t>
            </a:r>
            <a:endParaRPr lang="en-US" sz="1100" dirty="0"/>
          </a:p>
        </p:txBody>
      </p:sp>
      <p:sp>
        <p:nvSpPr>
          <p:cNvPr id="19" name="Text 17"/>
          <p:cNvSpPr/>
          <p:nvPr/>
        </p:nvSpPr>
        <p:spPr>
          <a:xfrm>
            <a:off x="5212080" y="233172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Author Book Readings</a:t>
            </a:r>
            <a:endParaRPr lang="en-US" sz="1100" dirty="0"/>
          </a:p>
        </p:txBody>
      </p:sp>
      <p:sp>
        <p:nvSpPr>
          <p:cNvPr id="20" name="Text 18"/>
          <p:cNvSpPr/>
          <p:nvPr/>
        </p:nvSpPr>
        <p:spPr>
          <a:xfrm>
            <a:off x="5212080" y="269748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Kalaignar Award (100th)</a:t>
            </a:r>
            <a:endParaRPr lang="en-US" sz="1100" dirty="0"/>
          </a:p>
        </p:txBody>
      </p:sp>
      <p:sp>
        <p:nvSpPr>
          <p:cNvPr id="21" name="Text 19"/>
          <p:cNvSpPr/>
          <p:nvPr/>
        </p:nvSpPr>
        <p:spPr>
          <a:xfrm>
            <a:off x="5212080" y="306324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Children's Book Section</a:t>
            </a:r>
            <a:endParaRPr lang="en-US" sz="1100" dirty="0"/>
          </a:p>
        </p:txBody>
      </p:sp>
      <p:sp>
        <p:nvSpPr>
          <p:cNvPr id="22" name="Text 20"/>
          <p:cNvSpPr/>
          <p:nvPr/>
        </p:nvSpPr>
        <p:spPr>
          <a:xfrm>
            <a:off x="5212080" y="342900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Food &amp; Beverage Stalls</a:t>
            </a:r>
            <a:endParaRPr lang="en-US" sz="1100" dirty="0"/>
          </a:p>
        </p:txBody>
      </p:sp>
      <p:sp>
        <p:nvSpPr>
          <p:cNvPr id="23" name="Text 21"/>
          <p:cNvSpPr/>
          <p:nvPr/>
        </p:nvSpPr>
        <p:spPr>
          <a:xfrm>
            <a:off x="5212080" y="3794760"/>
            <a:ext cx="3474720" cy="30175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Major Publishers Worldwide</a:t>
            </a:r>
            <a:endParaRPr lang="en-US" sz="1100" dirty="0"/>
          </a:p>
        </p:txBody>
      </p:sp>
      <p:sp>
        <p:nvSpPr>
          <p:cNvPr id="24" name="Text 22"/>
          <p:cNvSpPr/>
          <p:nvPr/>
        </p:nvSpPr>
        <p:spPr>
          <a:xfrm>
            <a:off x="457200" y="4389120"/>
            <a:ext cx="8229600" cy="274320"/>
          </a:xfrm>
          <a:prstGeom prst="rect">
            <a:avLst/>
          </a:prstGeom>
          <a:solidFill>
            <a:srgbClr val="DC2626"/>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Organizer: BAPASI | Venue: YMCA College of Physical Education | Second Largest Book Fair in India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DC2626"/>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BOOK FAIR HISTORY &amp; MILESTONES</a:t>
            </a:r>
            <a:endParaRPr lang="en-US" sz="3200" dirty="0"/>
          </a:p>
        </p:txBody>
      </p:sp>
      <p:sp>
        <p:nvSpPr>
          <p:cNvPr id="4" name="Shape 2"/>
          <p:cNvSpPr/>
          <p:nvPr/>
        </p:nvSpPr>
        <p:spPr>
          <a:xfrm>
            <a:off x="457200" y="1097280"/>
            <a:ext cx="1097280" cy="777240"/>
          </a:xfrm>
          <a:prstGeom prst="rect">
            <a:avLst/>
          </a:prstGeom>
          <a:solidFill>
            <a:srgbClr val="DC2626"/>
          </a:solidFill>
          <a:ln/>
        </p:spPr>
      </p:sp>
      <p:sp>
        <p:nvSpPr>
          <p:cNvPr id="5" name="Text 3"/>
          <p:cNvSpPr/>
          <p:nvPr/>
        </p:nvSpPr>
        <p:spPr>
          <a:xfrm>
            <a:off x="457200" y="1097280"/>
            <a:ext cx="109728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2009</a:t>
            </a:r>
            <a:endParaRPr lang="en-US" sz="1800" dirty="0"/>
          </a:p>
        </p:txBody>
      </p:sp>
      <p:sp>
        <p:nvSpPr>
          <p:cNvPr id="6" name="Shape 4"/>
          <p:cNvSpPr/>
          <p:nvPr/>
        </p:nvSpPr>
        <p:spPr>
          <a:xfrm>
            <a:off x="1645920" y="1097280"/>
            <a:ext cx="7040880" cy="777240"/>
          </a:xfrm>
          <a:prstGeom prst="rect">
            <a:avLst/>
          </a:prstGeom>
          <a:solidFill>
            <a:srgbClr val="F3F4F6"/>
          </a:solidFill>
          <a:ln w="12700">
            <a:solidFill>
              <a:srgbClr val="DC2626"/>
            </a:solidFill>
            <a:prstDash val="solid"/>
          </a:ln>
        </p:spPr>
      </p:sp>
      <p:sp>
        <p:nvSpPr>
          <p:cNvPr id="7" name="Text 5"/>
          <p:cNvSpPr/>
          <p:nvPr/>
        </p:nvSpPr>
        <p:spPr>
          <a:xfrm>
            <a:off x="1828800" y="1143000"/>
            <a:ext cx="6675120" cy="320040"/>
          </a:xfrm>
          <a:prstGeom prst="rect">
            <a:avLst/>
          </a:prstGeom>
          <a:noFill/>
          <a:ln/>
        </p:spPr>
        <p:txBody>
          <a:bodyPr wrap="square" lIns="0" tIns="0" rIns="0" bIns="0" rtlCol="0" anchor="t"/>
          <a:lstStyle/>
          <a:p>
            <a:pPr algn="l" indent="0" marL="0">
              <a:buNone/>
            </a:pPr>
            <a:r>
              <a:rPr lang="en-US" sz="1200" b="1" dirty="0">
                <a:solidFill>
                  <a:srgbClr val="1E3A8A"/>
                </a:solidFill>
                <a:latin typeface="Arial" pitchFamily="34" charset="0"/>
                <a:ea typeface="Arial" pitchFamily="34" charset="-122"/>
                <a:cs typeface="Arial" pitchFamily="34" charset="-120"/>
              </a:rPr>
              <a:t>32nd Fair at St. George's School</a:t>
            </a:r>
            <a:endParaRPr lang="en-US" sz="1200" dirty="0"/>
          </a:p>
        </p:txBody>
      </p:sp>
      <p:sp>
        <p:nvSpPr>
          <p:cNvPr id="8" name="Text 6"/>
          <p:cNvSpPr/>
          <p:nvPr/>
        </p:nvSpPr>
        <p:spPr>
          <a:xfrm>
            <a:off x="1828800" y="1508760"/>
            <a:ext cx="6675120" cy="32004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1M+ Visitors | ₹270M Sales</a:t>
            </a:r>
            <a:endParaRPr lang="en-US" sz="1100" dirty="0"/>
          </a:p>
        </p:txBody>
      </p:sp>
      <p:sp>
        <p:nvSpPr>
          <p:cNvPr id="9" name="Shape 7"/>
          <p:cNvSpPr/>
          <p:nvPr/>
        </p:nvSpPr>
        <p:spPr>
          <a:xfrm>
            <a:off x="457200" y="2011680"/>
            <a:ext cx="1097280" cy="777240"/>
          </a:xfrm>
          <a:prstGeom prst="rect">
            <a:avLst/>
          </a:prstGeom>
          <a:solidFill>
            <a:srgbClr val="DC2626"/>
          </a:solidFill>
          <a:ln/>
        </p:spPr>
      </p:sp>
      <p:sp>
        <p:nvSpPr>
          <p:cNvPr id="10" name="Text 8"/>
          <p:cNvSpPr/>
          <p:nvPr/>
        </p:nvSpPr>
        <p:spPr>
          <a:xfrm>
            <a:off x="457200" y="2011680"/>
            <a:ext cx="109728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2013</a:t>
            </a:r>
            <a:endParaRPr lang="en-US" sz="1800" dirty="0"/>
          </a:p>
        </p:txBody>
      </p:sp>
      <p:sp>
        <p:nvSpPr>
          <p:cNvPr id="11" name="Shape 9"/>
          <p:cNvSpPr/>
          <p:nvPr/>
        </p:nvSpPr>
        <p:spPr>
          <a:xfrm>
            <a:off x="1645920" y="2011680"/>
            <a:ext cx="7040880" cy="777240"/>
          </a:xfrm>
          <a:prstGeom prst="rect">
            <a:avLst/>
          </a:prstGeom>
          <a:solidFill>
            <a:srgbClr val="F3F4F6"/>
          </a:solidFill>
          <a:ln w="12700">
            <a:solidFill>
              <a:srgbClr val="DC2626"/>
            </a:solidFill>
            <a:prstDash val="solid"/>
          </a:ln>
        </p:spPr>
      </p:sp>
      <p:sp>
        <p:nvSpPr>
          <p:cNvPr id="12" name="Text 10"/>
          <p:cNvSpPr/>
          <p:nvPr/>
        </p:nvSpPr>
        <p:spPr>
          <a:xfrm>
            <a:off x="1828800" y="2057400"/>
            <a:ext cx="6675120" cy="320040"/>
          </a:xfrm>
          <a:prstGeom prst="rect">
            <a:avLst/>
          </a:prstGeom>
          <a:noFill/>
          <a:ln/>
        </p:spPr>
        <p:txBody>
          <a:bodyPr wrap="square" lIns="0" tIns="0" rIns="0" bIns="0" rtlCol="0" anchor="t"/>
          <a:lstStyle/>
          <a:p>
            <a:pPr algn="l" indent="0" marL="0">
              <a:buNone/>
            </a:pPr>
            <a:r>
              <a:rPr lang="en-US" sz="1200" b="1" dirty="0">
                <a:solidFill>
                  <a:srgbClr val="1E3A8A"/>
                </a:solidFill>
                <a:latin typeface="Arial" pitchFamily="34" charset="0"/>
                <a:ea typeface="Arial" pitchFamily="34" charset="-122"/>
                <a:cs typeface="Arial" pitchFamily="34" charset="-120"/>
              </a:rPr>
              <a:t>36th Fair at YMCA Nandanam</a:t>
            </a:r>
            <a:endParaRPr lang="en-US" sz="1200" dirty="0"/>
          </a:p>
        </p:txBody>
      </p:sp>
      <p:sp>
        <p:nvSpPr>
          <p:cNvPr id="13" name="Text 11"/>
          <p:cNvSpPr/>
          <p:nvPr/>
        </p:nvSpPr>
        <p:spPr>
          <a:xfrm>
            <a:off x="1828800" y="2423160"/>
            <a:ext cx="6675120" cy="32004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747 Stalls | 1M+ Titles</a:t>
            </a:r>
            <a:endParaRPr lang="en-US" sz="1100" dirty="0"/>
          </a:p>
        </p:txBody>
      </p:sp>
      <p:sp>
        <p:nvSpPr>
          <p:cNvPr id="14" name="Shape 12"/>
          <p:cNvSpPr/>
          <p:nvPr/>
        </p:nvSpPr>
        <p:spPr>
          <a:xfrm>
            <a:off x="457200" y="2926080"/>
            <a:ext cx="1097280" cy="777240"/>
          </a:xfrm>
          <a:prstGeom prst="rect">
            <a:avLst/>
          </a:prstGeom>
          <a:solidFill>
            <a:srgbClr val="DC2626"/>
          </a:solidFill>
          <a:ln/>
        </p:spPr>
      </p:sp>
      <p:sp>
        <p:nvSpPr>
          <p:cNvPr id="15" name="Text 13"/>
          <p:cNvSpPr/>
          <p:nvPr/>
        </p:nvSpPr>
        <p:spPr>
          <a:xfrm>
            <a:off x="457200" y="2926080"/>
            <a:ext cx="109728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2016</a:t>
            </a:r>
            <a:endParaRPr lang="en-US" sz="1800" dirty="0"/>
          </a:p>
        </p:txBody>
      </p:sp>
      <p:sp>
        <p:nvSpPr>
          <p:cNvPr id="16" name="Shape 14"/>
          <p:cNvSpPr/>
          <p:nvPr/>
        </p:nvSpPr>
        <p:spPr>
          <a:xfrm>
            <a:off x="1645920" y="2926080"/>
            <a:ext cx="7040880" cy="777240"/>
          </a:xfrm>
          <a:prstGeom prst="rect">
            <a:avLst/>
          </a:prstGeom>
          <a:solidFill>
            <a:srgbClr val="F3F4F6"/>
          </a:solidFill>
          <a:ln w="12700">
            <a:solidFill>
              <a:srgbClr val="DC2626"/>
            </a:solidFill>
            <a:prstDash val="solid"/>
          </a:ln>
        </p:spPr>
      </p:sp>
      <p:sp>
        <p:nvSpPr>
          <p:cNvPr id="17" name="Text 15"/>
          <p:cNvSpPr/>
          <p:nvPr/>
        </p:nvSpPr>
        <p:spPr>
          <a:xfrm>
            <a:off x="1828800" y="2971800"/>
            <a:ext cx="6675120" cy="320040"/>
          </a:xfrm>
          <a:prstGeom prst="rect">
            <a:avLst/>
          </a:prstGeom>
          <a:noFill/>
          <a:ln/>
        </p:spPr>
        <p:txBody>
          <a:bodyPr wrap="square" lIns="0" tIns="0" rIns="0" bIns="0" rtlCol="0" anchor="t"/>
          <a:lstStyle/>
          <a:p>
            <a:pPr algn="l" indent="0" marL="0">
              <a:buNone/>
            </a:pPr>
            <a:r>
              <a:rPr lang="en-US" sz="1200" b="1" dirty="0">
                <a:solidFill>
                  <a:srgbClr val="1E3A8A"/>
                </a:solidFill>
                <a:latin typeface="Arial" pitchFamily="34" charset="0"/>
                <a:ea typeface="Arial" pitchFamily="34" charset="-122"/>
                <a:cs typeface="Arial" pitchFamily="34" charset="-120"/>
              </a:rPr>
              <a:t>Rescheduled to June (Flood Recovery)</a:t>
            </a:r>
            <a:endParaRPr lang="en-US" sz="1200" dirty="0"/>
          </a:p>
        </p:txBody>
      </p:sp>
      <p:sp>
        <p:nvSpPr>
          <p:cNvPr id="18" name="Text 16"/>
          <p:cNvSpPr/>
          <p:nvPr/>
        </p:nvSpPr>
        <p:spPr>
          <a:xfrm>
            <a:off x="1828800" y="3337560"/>
            <a:ext cx="6675120" cy="32004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225 Stalls | ₹25Cr Loss Recovery</a:t>
            </a:r>
            <a:endParaRPr lang="en-US" sz="1100" dirty="0"/>
          </a:p>
        </p:txBody>
      </p:sp>
      <p:sp>
        <p:nvSpPr>
          <p:cNvPr id="19" name="Shape 17"/>
          <p:cNvSpPr/>
          <p:nvPr/>
        </p:nvSpPr>
        <p:spPr>
          <a:xfrm>
            <a:off x="457200" y="3840480"/>
            <a:ext cx="1097280" cy="777240"/>
          </a:xfrm>
          <a:prstGeom prst="rect">
            <a:avLst/>
          </a:prstGeom>
          <a:solidFill>
            <a:srgbClr val="DC2626"/>
          </a:solidFill>
          <a:ln/>
        </p:spPr>
      </p:sp>
      <p:sp>
        <p:nvSpPr>
          <p:cNvPr id="20" name="Text 18"/>
          <p:cNvSpPr/>
          <p:nvPr/>
        </p:nvSpPr>
        <p:spPr>
          <a:xfrm>
            <a:off x="457200" y="3840480"/>
            <a:ext cx="109728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2023</a:t>
            </a:r>
            <a:endParaRPr lang="en-US" sz="1800" dirty="0"/>
          </a:p>
        </p:txBody>
      </p:sp>
      <p:sp>
        <p:nvSpPr>
          <p:cNvPr id="21" name="Shape 19"/>
          <p:cNvSpPr/>
          <p:nvPr/>
        </p:nvSpPr>
        <p:spPr>
          <a:xfrm>
            <a:off x="1645920" y="3840480"/>
            <a:ext cx="7040880" cy="777240"/>
          </a:xfrm>
          <a:prstGeom prst="rect">
            <a:avLst/>
          </a:prstGeom>
          <a:solidFill>
            <a:srgbClr val="F3F4F6"/>
          </a:solidFill>
          <a:ln w="12700">
            <a:solidFill>
              <a:srgbClr val="DC2626"/>
            </a:solidFill>
            <a:prstDash val="solid"/>
          </a:ln>
        </p:spPr>
      </p:sp>
      <p:sp>
        <p:nvSpPr>
          <p:cNvPr id="22" name="Text 20"/>
          <p:cNvSpPr/>
          <p:nvPr/>
        </p:nvSpPr>
        <p:spPr>
          <a:xfrm>
            <a:off x="1828800" y="3886200"/>
            <a:ext cx="6675120" cy="320040"/>
          </a:xfrm>
          <a:prstGeom prst="rect">
            <a:avLst/>
          </a:prstGeom>
          <a:noFill/>
          <a:ln/>
        </p:spPr>
        <p:txBody>
          <a:bodyPr wrap="square" lIns="0" tIns="0" rIns="0" bIns="0" rtlCol="0" anchor="t"/>
          <a:lstStyle/>
          <a:p>
            <a:pPr algn="l" indent="0" marL="0">
              <a:buNone/>
            </a:pPr>
            <a:r>
              <a:rPr lang="en-US" sz="1200" b="1" dirty="0">
                <a:solidFill>
                  <a:srgbClr val="1E3A8A"/>
                </a:solidFill>
                <a:latin typeface="Arial" pitchFamily="34" charset="0"/>
                <a:ea typeface="Arial" pitchFamily="34" charset="-122"/>
                <a:cs typeface="Arial" pitchFamily="34" charset="-120"/>
              </a:rPr>
              <a:t>46th Fair: International Segment Added</a:t>
            </a:r>
            <a:endParaRPr lang="en-US" sz="1200" dirty="0"/>
          </a:p>
        </p:txBody>
      </p:sp>
      <p:sp>
        <p:nvSpPr>
          <p:cNvPr id="23" name="Text 21"/>
          <p:cNvSpPr/>
          <p:nvPr/>
        </p:nvSpPr>
        <p:spPr>
          <a:xfrm>
            <a:off x="1828800" y="4251960"/>
            <a:ext cx="6675120" cy="320040"/>
          </a:xfrm>
          <a:prstGeom prst="rect">
            <a:avLst/>
          </a:prstGeom>
          <a:noFill/>
          <a:ln/>
        </p:spPr>
        <p:txBody>
          <a:bodyPr wrap="square" lIns="0" tIns="0" rIns="0" bIns="0" rtlCol="0" anchor="t"/>
          <a:lstStyle/>
          <a:p>
            <a:pPr algn="l" indent="0" marL="0">
              <a:buNone/>
            </a:pPr>
            <a:r>
              <a:rPr lang="en-US" sz="1100" dirty="0">
                <a:solidFill>
                  <a:srgbClr val="374151"/>
                </a:solidFill>
                <a:latin typeface="Arial" pitchFamily="34" charset="0"/>
                <a:ea typeface="Arial" pitchFamily="34" charset="-122"/>
                <a:cs typeface="Arial" pitchFamily="34" charset="-120"/>
              </a:rPr>
              <a:t>1,000 Stalls | 600K+ Visitors</a:t>
            </a:r>
            <a:endParaRPr lang="en-US" sz="1100" dirty="0"/>
          </a:p>
        </p:txBody>
      </p:sp>
      <p:sp>
        <p:nvSpPr>
          <p:cNvPr id="24" name="Shape 22"/>
          <p:cNvSpPr/>
          <p:nvPr/>
        </p:nvSpPr>
        <p:spPr>
          <a:xfrm>
            <a:off x="457200" y="4526280"/>
            <a:ext cx="8229600" cy="502920"/>
          </a:xfrm>
          <a:prstGeom prst="rect">
            <a:avLst/>
          </a:prstGeom>
          <a:solidFill>
            <a:srgbClr val="F3F4F6"/>
          </a:solidFill>
          <a:ln w="25400">
            <a:solidFill>
              <a:srgbClr val="DC2626"/>
            </a:solidFill>
            <a:prstDash val="solid"/>
          </a:ln>
        </p:spPr>
      </p:sp>
      <p:sp>
        <p:nvSpPr>
          <p:cNvPr id="25" name="Text 23"/>
          <p:cNvSpPr/>
          <p:nvPr/>
        </p:nvSpPr>
        <p:spPr>
          <a:xfrm>
            <a:off x="640080" y="4590288"/>
            <a:ext cx="1371600" cy="210312"/>
          </a:xfrm>
          <a:prstGeom prst="rect">
            <a:avLst/>
          </a:prstGeom>
          <a:noFill/>
          <a:ln/>
        </p:spPr>
        <p:txBody>
          <a:bodyPr wrap="square" lIns="0" tIns="0" rIns="0" bIns="0" rtlCol="0" anchor="ctr"/>
          <a:lstStyle/>
          <a:p>
            <a:pPr algn="l" indent="0" marL="0">
              <a:buNone/>
            </a:pPr>
            <a:r>
              <a:rPr lang="en-US" sz="1100" b="1" dirty="0">
                <a:solidFill>
                  <a:srgbClr val="DC2626"/>
                </a:solidFill>
                <a:latin typeface="Arial" pitchFamily="34" charset="0"/>
                <a:ea typeface="Arial" pitchFamily="34" charset="-122"/>
                <a:cs typeface="Arial" pitchFamily="34" charset="-120"/>
              </a:rPr>
              <a:t>CULTURAL IMPACT:</a:t>
            </a:r>
            <a:endParaRPr lang="en-US" sz="1100" dirty="0"/>
          </a:p>
        </p:txBody>
      </p:sp>
      <p:sp>
        <p:nvSpPr>
          <p:cNvPr id="26" name="Text 24"/>
          <p:cNvSpPr/>
          <p:nvPr/>
        </p:nvSpPr>
        <p:spPr>
          <a:xfrm>
            <a:off x="2103120" y="4590288"/>
            <a:ext cx="6400800" cy="36576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Important event in Chennai's cultural calendar | Promotes literacy &amp; reading culture | Platform for publishers &amp; authors | Post-COVID recovery demonstrates publishing industry resilience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9488"/>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ED PAVILION - 23</a:t>
            </a:r>
            <a:endParaRPr lang="en-US" sz="3200" dirty="0"/>
          </a:p>
        </p:txBody>
      </p:sp>
      <p:sp>
        <p:nvSpPr>
          <p:cNvPr id="4" name="Text 2"/>
          <p:cNvSpPr/>
          <p:nvPr/>
        </p:nvSpPr>
        <p:spPr>
          <a:xfrm>
            <a:off x="457200" y="685800"/>
            <a:ext cx="8229600" cy="228600"/>
          </a:xfrm>
          <a:prstGeom prst="rect">
            <a:avLst/>
          </a:prstGeom>
          <a:noFill/>
          <a:ln/>
        </p:spPr>
        <p:txBody>
          <a:bodyPr wrap="square" lIns="0" tIns="0" rIns="0" bIns="0" rtlCol="0" anchor="ctr"/>
          <a:lstStyle/>
          <a:p>
            <a:pPr algn="l" indent="0" marL="0">
              <a:buNone/>
            </a:pPr>
            <a:r>
              <a:rPr lang="en-US" sz="1200" i="1" dirty="0">
                <a:solidFill>
                  <a:srgbClr val="0D9488"/>
                </a:solidFill>
                <a:latin typeface="Arial" pitchFamily="34" charset="0"/>
                <a:ea typeface="Arial" pitchFamily="34" charset="-122"/>
                <a:cs typeface="Arial" pitchFamily="34" charset="-120"/>
              </a:rPr>
              <a:t>Entrepreneurship Development Pavilion | SRM Ramapuram Campus</a:t>
            </a:r>
            <a:endParaRPr lang="en-US" sz="1200" dirty="0"/>
          </a:p>
        </p:txBody>
      </p:sp>
      <p:sp>
        <p:nvSpPr>
          <p:cNvPr id="5" name="Text 3"/>
          <p:cNvSpPr/>
          <p:nvPr/>
        </p:nvSpPr>
        <p:spPr>
          <a:xfrm>
            <a:off x="457200" y="1005840"/>
            <a:ext cx="4114800" cy="228600"/>
          </a:xfrm>
          <a:prstGeom prst="rect">
            <a:avLst/>
          </a:prstGeom>
          <a:noFill/>
          <a:ln/>
        </p:spPr>
        <p:txBody>
          <a:bodyPr wrap="square" lIns="0" tIns="0" rIns="0" bIns="0" rtlCol="0" anchor="ctr"/>
          <a:lstStyle/>
          <a:p>
            <a:pPr algn="l" indent="0" marL="0">
              <a:buNone/>
            </a:pPr>
            <a:r>
              <a:rPr lang="en-US" sz="1300" b="1" dirty="0">
                <a:solidFill>
                  <a:srgbClr val="1E3A8A"/>
                </a:solidFill>
                <a:latin typeface="Arial" pitchFamily="34" charset="0"/>
                <a:ea typeface="Arial" pitchFamily="34" charset="-122"/>
                <a:cs typeface="Arial" pitchFamily="34" charset="-120"/>
              </a:rPr>
              <a:t>Purpose</a:t>
            </a:r>
            <a:endParaRPr lang="en-US" sz="1300" dirty="0"/>
          </a:p>
        </p:txBody>
      </p:sp>
      <p:sp>
        <p:nvSpPr>
          <p:cNvPr id="6" name="Text 4"/>
          <p:cNvSpPr/>
          <p:nvPr/>
        </p:nvSpPr>
        <p:spPr>
          <a:xfrm>
            <a:off x="457200" y="1280160"/>
            <a:ext cx="4114800" cy="777240"/>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Promote entrepreneurship and innovation among students and aspiring entrepreneurs through platform for idea showcase and business development</a:t>
            </a:r>
            <a:endParaRPr lang="en-US" sz="1100" dirty="0"/>
          </a:p>
        </p:txBody>
      </p:sp>
      <p:sp>
        <p:nvSpPr>
          <p:cNvPr id="7" name="Text 5"/>
          <p:cNvSpPr/>
          <p:nvPr/>
        </p:nvSpPr>
        <p:spPr>
          <a:xfrm>
            <a:off x="5029200" y="1005840"/>
            <a:ext cx="3657600" cy="228600"/>
          </a:xfrm>
          <a:prstGeom prst="rect">
            <a:avLst/>
          </a:prstGeom>
          <a:noFill/>
          <a:ln/>
        </p:spPr>
        <p:txBody>
          <a:bodyPr wrap="square" lIns="0" tIns="0" rIns="0" bIns="0" rtlCol="0" anchor="ctr"/>
          <a:lstStyle/>
          <a:p>
            <a:pPr algn="l" indent="0" marL="0">
              <a:buNone/>
            </a:pPr>
            <a:r>
              <a:rPr lang="en-US" sz="1300" b="1" dirty="0">
                <a:solidFill>
                  <a:srgbClr val="1E3A8A"/>
                </a:solidFill>
                <a:latin typeface="Arial" pitchFamily="34" charset="0"/>
                <a:ea typeface="Arial" pitchFamily="34" charset="-122"/>
                <a:cs typeface="Arial" pitchFamily="34" charset="-120"/>
              </a:rPr>
              <a:t>Key Features</a:t>
            </a:r>
            <a:endParaRPr lang="en-US" sz="1300" dirty="0"/>
          </a:p>
        </p:txBody>
      </p:sp>
      <p:sp>
        <p:nvSpPr>
          <p:cNvPr id="8" name="Text 6"/>
          <p:cNvSpPr/>
          <p:nvPr/>
        </p:nvSpPr>
        <p:spPr>
          <a:xfrm>
            <a:off x="5029200" y="1280160"/>
            <a:ext cx="365760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Keynote Speeches</a:t>
            </a:r>
            <a:endParaRPr lang="en-US" sz="1100" dirty="0"/>
          </a:p>
        </p:txBody>
      </p:sp>
      <p:sp>
        <p:nvSpPr>
          <p:cNvPr id="9" name="Text 7"/>
          <p:cNvSpPr/>
          <p:nvPr/>
        </p:nvSpPr>
        <p:spPr>
          <a:xfrm>
            <a:off x="5029200" y="1572768"/>
            <a:ext cx="365760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Panel Discussions</a:t>
            </a:r>
            <a:endParaRPr lang="en-US" sz="1100" dirty="0"/>
          </a:p>
        </p:txBody>
      </p:sp>
      <p:sp>
        <p:nvSpPr>
          <p:cNvPr id="10" name="Text 8"/>
          <p:cNvSpPr/>
          <p:nvPr/>
        </p:nvSpPr>
        <p:spPr>
          <a:xfrm>
            <a:off x="5029200" y="1865376"/>
            <a:ext cx="365760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Workshops &amp; Training</a:t>
            </a:r>
            <a:endParaRPr lang="en-US" sz="1100" dirty="0"/>
          </a:p>
        </p:txBody>
      </p:sp>
      <p:sp>
        <p:nvSpPr>
          <p:cNvPr id="11" name="Text 9"/>
          <p:cNvSpPr/>
          <p:nvPr/>
        </p:nvSpPr>
        <p:spPr>
          <a:xfrm>
            <a:off x="5029200" y="2157984"/>
            <a:ext cx="365760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Pitch Competitions</a:t>
            </a:r>
            <a:endParaRPr lang="en-US" sz="1100" dirty="0"/>
          </a:p>
        </p:txBody>
      </p:sp>
      <p:sp>
        <p:nvSpPr>
          <p:cNvPr id="12" name="Text 10"/>
          <p:cNvSpPr/>
          <p:nvPr/>
        </p:nvSpPr>
        <p:spPr>
          <a:xfrm>
            <a:off x="5029200" y="2450592"/>
            <a:ext cx="3657600" cy="256032"/>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 Investor Networking</a:t>
            </a:r>
            <a:endParaRPr lang="en-US" sz="1100" dirty="0"/>
          </a:p>
        </p:txBody>
      </p:sp>
      <p:sp>
        <p:nvSpPr>
          <p:cNvPr id="13" name="Text 11"/>
          <p:cNvSpPr/>
          <p:nvPr/>
        </p:nvSpPr>
        <p:spPr>
          <a:xfrm>
            <a:off x="457200" y="2286000"/>
            <a:ext cx="4114800" cy="228600"/>
          </a:xfrm>
          <a:prstGeom prst="rect">
            <a:avLst/>
          </a:prstGeom>
          <a:noFill/>
          <a:ln/>
        </p:spPr>
        <p:txBody>
          <a:bodyPr wrap="square" lIns="0" tIns="0" rIns="0" bIns="0" rtlCol="0" anchor="ctr"/>
          <a:lstStyle/>
          <a:p>
            <a:pPr algn="l" indent="0" marL="0">
              <a:buNone/>
            </a:pPr>
            <a:r>
              <a:rPr lang="en-US" sz="1300" b="1" dirty="0">
                <a:solidFill>
                  <a:srgbClr val="1E3A8A"/>
                </a:solidFill>
                <a:latin typeface="Arial" pitchFamily="34" charset="0"/>
                <a:ea typeface="Arial" pitchFamily="34" charset="-122"/>
                <a:cs typeface="Arial" pitchFamily="34" charset="-120"/>
              </a:rPr>
              <a:t>Startup Categories (11 Sectors)</a:t>
            </a:r>
            <a:endParaRPr lang="en-US" sz="1300" dirty="0"/>
          </a:p>
        </p:txBody>
      </p:sp>
      <p:sp>
        <p:nvSpPr>
          <p:cNvPr id="14" name="Text 12"/>
          <p:cNvSpPr/>
          <p:nvPr/>
        </p:nvSpPr>
        <p:spPr>
          <a:xfrm>
            <a:off x="457200" y="2560320"/>
            <a:ext cx="41148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Engineering | Medical | Dental | Finance</a:t>
            </a:r>
            <a:endParaRPr lang="en-US" sz="1000" dirty="0"/>
          </a:p>
        </p:txBody>
      </p:sp>
      <p:sp>
        <p:nvSpPr>
          <p:cNvPr id="15" name="Text 13"/>
          <p:cNvSpPr/>
          <p:nvPr/>
        </p:nvSpPr>
        <p:spPr>
          <a:xfrm>
            <a:off x="457200" y="2852928"/>
            <a:ext cx="41148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Food &amp; Beverages | Entertainment</a:t>
            </a:r>
            <a:endParaRPr lang="en-US" sz="1000" dirty="0"/>
          </a:p>
        </p:txBody>
      </p:sp>
      <p:sp>
        <p:nvSpPr>
          <p:cNvPr id="16" name="Text 14"/>
          <p:cNvSpPr/>
          <p:nvPr/>
        </p:nvSpPr>
        <p:spPr>
          <a:xfrm>
            <a:off x="457200" y="3145536"/>
            <a:ext cx="41148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Travel &amp; Tourism | Cosmetics</a:t>
            </a:r>
            <a:endParaRPr lang="en-US" sz="1000" dirty="0"/>
          </a:p>
        </p:txBody>
      </p:sp>
      <p:sp>
        <p:nvSpPr>
          <p:cNvPr id="17" name="Text 15"/>
          <p:cNvSpPr/>
          <p:nvPr/>
        </p:nvSpPr>
        <p:spPr>
          <a:xfrm>
            <a:off x="457200" y="3438144"/>
            <a:ext cx="41148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Handloom &amp; Handicrafts</a:t>
            </a:r>
            <a:endParaRPr lang="en-US" sz="1000" dirty="0"/>
          </a:p>
        </p:txBody>
      </p:sp>
      <p:sp>
        <p:nvSpPr>
          <p:cNvPr id="18" name="Text 16"/>
          <p:cNvSpPr/>
          <p:nvPr/>
        </p:nvSpPr>
        <p:spPr>
          <a:xfrm>
            <a:off x="457200" y="3730752"/>
            <a:ext cx="41148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Accessories &amp; Apparels | Poster Presentations</a:t>
            </a:r>
            <a:endParaRPr lang="en-US" sz="1000" dirty="0"/>
          </a:p>
        </p:txBody>
      </p:sp>
      <p:sp>
        <p:nvSpPr>
          <p:cNvPr id="19" name="Text 17"/>
          <p:cNvSpPr/>
          <p:nvPr/>
        </p:nvSpPr>
        <p:spPr>
          <a:xfrm>
            <a:off x="5029200" y="2286000"/>
            <a:ext cx="3657600" cy="228600"/>
          </a:xfrm>
          <a:prstGeom prst="rect">
            <a:avLst/>
          </a:prstGeom>
          <a:noFill/>
          <a:ln/>
        </p:spPr>
        <p:txBody>
          <a:bodyPr wrap="square" lIns="0" tIns="0" rIns="0" bIns="0" rtlCol="0" anchor="ctr"/>
          <a:lstStyle/>
          <a:p>
            <a:pPr algn="l" indent="0" marL="0">
              <a:buNone/>
            </a:pPr>
            <a:r>
              <a:rPr lang="en-US" sz="1300" b="1" dirty="0">
                <a:solidFill>
                  <a:srgbClr val="1E3A8A"/>
                </a:solidFill>
                <a:latin typeface="Arial" pitchFamily="34" charset="0"/>
                <a:ea typeface="Arial" pitchFamily="34" charset="-122"/>
                <a:cs typeface="Arial" pitchFamily="34" charset="-120"/>
              </a:rPr>
              <a:t>Services Offered</a:t>
            </a:r>
            <a:endParaRPr lang="en-US" sz="1300" dirty="0"/>
          </a:p>
        </p:txBody>
      </p:sp>
      <p:sp>
        <p:nvSpPr>
          <p:cNvPr id="20" name="Text 18"/>
          <p:cNvSpPr/>
          <p:nvPr/>
        </p:nvSpPr>
        <p:spPr>
          <a:xfrm>
            <a:off x="5029200" y="2560320"/>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 Financial Management Solutions</a:t>
            </a:r>
            <a:endParaRPr lang="en-US" sz="1000" dirty="0"/>
          </a:p>
        </p:txBody>
      </p:sp>
      <p:sp>
        <p:nvSpPr>
          <p:cNvPr id="21" name="Text 19"/>
          <p:cNvSpPr/>
          <p:nvPr/>
        </p:nvSpPr>
        <p:spPr>
          <a:xfrm>
            <a:off x="5029200" y="2852928"/>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 Digital Marketing Services</a:t>
            </a:r>
            <a:endParaRPr lang="en-US" sz="1000" dirty="0"/>
          </a:p>
        </p:txBody>
      </p:sp>
      <p:sp>
        <p:nvSpPr>
          <p:cNvPr id="22" name="Text 20"/>
          <p:cNvSpPr/>
          <p:nvPr/>
        </p:nvSpPr>
        <p:spPr>
          <a:xfrm>
            <a:off x="5029200" y="3145536"/>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 Product Development &amp; Design</a:t>
            </a:r>
            <a:endParaRPr lang="en-US" sz="1000" dirty="0"/>
          </a:p>
        </p:txBody>
      </p:sp>
      <p:sp>
        <p:nvSpPr>
          <p:cNvPr id="23" name="Text 21"/>
          <p:cNvSpPr/>
          <p:nvPr/>
        </p:nvSpPr>
        <p:spPr>
          <a:xfrm>
            <a:off x="5029200" y="3438144"/>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 IP &amp; Legal Services</a:t>
            </a:r>
            <a:endParaRPr lang="en-US" sz="1000" dirty="0"/>
          </a:p>
        </p:txBody>
      </p:sp>
      <p:sp>
        <p:nvSpPr>
          <p:cNvPr id="24" name="Text 22"/>
          <p:cNvSpPr/>
          <p:nvPr/>
        </p:nvSpPr>
        <p:spPr>
          <a:xfrm>
            <a:off x="5029200" y="3730752"/>
            <a:ext cx="3657600" cy="256032"/>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 HR &amp; Talent Management</a:t>
            </a:r>
            <a:endParaRPr lang="en-US" sz="1000" dirty="0"/>
          </a:p>
        </p:txBody>
      </p:sp>
      <p:sp>
        <p:nvSpPr>
          <p:cNvPr id="25" name="Shape 23"/>
          <p:cNvSpPr/>
          <p:nvPr/>
        </p:nvSpPr>
        <p:spPr>
          <a:xfrm>
            <a:off x="457200" y="4343400"/>
            <a:ext cx="8229600" cy="640080"/>
          </a:xfrm>
          <a:prstGeom prst="rect">
            <a:avLst/>
          </a:prstGeom>
          <a:solidFill>
            <a:srgbClr val="F3F4F6"/>
          </a:solidFill>
          <a:ln w="25400">
            <a:solidFill>
              <a:srgbClr val="0D9488"/>
            </a:solidFill>
            <a:prstDash val="solid"/>
          </a:ln>
        </p:spPr>
      </p:sp>
      <p:sp>
        <p:nvSpPr>
          <p:cNvPr id="26" name="Text 24"/>
          <p:cNvSpPr/>
          <p:nvPr/>
        </p:nvSpPr>
        <p:spPr>
          <a:xfrm>
            <a:off x="640080" y="4434840"/>
            <a:ext cx="1828800" cy="228600"/>
          </a:xfrm>
          <a:prstGeom prst="rect">
            <a:avLst/>
          </a:prstGeom>
          <a:noFill/>
          <a:ln/>
        </p:spPr>
        <p:txBody>
          <a:bodyPr wrap="square" lIns="0" tIns="0" rIns="0" bIns="0" rtlCol="0" anchor="ctr"/>
          <a:lstStyle/>
          <a:p>
            <a:pPr algn="l" indent="0" marL="0">
              <a:buNone/>
            </a:pPr>
            <a:r>
              <a:rPr lang="en-US" sz="1200" b="1" dirty="0">
                <a:solidFill>
                  <a:srgbClr val="0D9488"/>
                </a:solidFill>
                <a:latin typeface="Arial" pitchFamily="34" charset="0"/>
                <a:ea typeface="Arial" pitchFamily="34" charset="-122"/>
                <a:cs typeface="Arial" pitchFamily="34" charset="-120"/>
              </a:rPr>
              <a:t>Event Budget: ₹20,000</a:t>
            </a:r>
            <a:endParaRPr lang="en-US" sz="1200" dirty="0"/>
          </a:p>
        </p:txBody>
      </p:sp>
      <p:sp>
        <p:nvSpPr>
          <p:cNvPr id="27" name="Text 25"/>
          <p:cNvSpPr/>
          <p:nvPr/>
        </p:nvSpPr>
        <p:spPr>
          <a:xfrm>
            <a:off x="2926080" y="4434840"/>
            <a:ext cx="1645920" cy="228600"/>
          </a:xfrm>
          <a:prstGeom prst="rect">
            <a:avLst/>
          </a:prstGeom>
          <a:noFill/>
          <a:ln/>
        </p:spPr>
        <p:txBody>
          <a:bodyPr wrap="square" lIns="0" tIns="0" rIns="0" bIns="0" rtlCol="0" anchor="ctr"/>
          <a:lstStyle/>
          <a:p>
            <a:pPr algn="l" indent="0" marL="0">
              <a:buNone/>
            </a:pPr>
            <a:r>
              <a:rPr lang="en-US" sz="1200" b="1" dirty="0">
                <a:solidFill>
                  <a:srgbClr val="0D9488"/>
                </a:solidFill>
                <a:latin typeface="Arial" pitchFamily="34" charset="0"/>
                <a:ea typeface="Arial" pitchFamily="34" charset="-122"/>
                <a:cs typeface="Arial" pitchFamily="34" charset="-120"/>
              </a:rPr>
              <a:t>Organizer: ITCOT</a:t>
            </a:r>
            <a:endParaRPr lang="en-US" sz="1200" dirty="0"/>
          </a:p>
        </p:txBody>
      </p:sp>
      <p:sp>
        <p:nvSpPr>
          <p:cNvPr id="28" name="Text 26"/>
          <p:cNvSpPr/>
          <p:nvPr/>
        </p:nvSpPr>
        <p:spPr>
          <a:xfrm>
            <a:off x="5029200" y="4434840"/>
            <a:ext cx="2286000" cy="228600"/>
          </a:xfrm>
          <a:prstGeom prst="rect">
            <a:avLst/>
          </a:prstGeom>
          <a:noFill/>
          <a:ln/>
        </p:spPr>
        <p:txBody>
          <a:bodyPr wrap="square" lIns="0" tIns="0" rIns="0" bIns="0" rtlCol="0" anchor="ctr"/>
          <a:lstStyle/>
          <a:p>
            <a:pPr algn="l" indent="0" marL="0">
              <a:buNone/>
            </a:pPr>
            <a:r>
              <a:rPr lang="en-US" sz="1200" b="1" dirty="0">
                <a:solidFill>
                  <a:srgbClr val="0D9488"/>
                </a:solidFill>
                <a:latin typeface="Arial" pitchFamily="34" charset="0"/>
                <a:ea typeface="Arial" pitchFamily="34" charset="-122"/>
                <a:cs typeface="Arial" pitchFamily="34" charset="-120"/>
              </a:rPr>
              <a:t>Venue: SRM Ramapuram Campus</a:t>
            </a:r>
            <a:endParaRPr lang="en-US" sz="1200" dirty="0"/>
          </a:p>
        </p:txBody>
      </p:sp>
      <p:sp>
        <p:nvSpPr>
          <p:cNvPr id="29" name="Text 27"/>
          <p:cNvSpPr/>
          <p:nvPr/>
        </p:nvSpPr>
        <p:spPr>
          <a:xfrm>
            <a:off x="640080" y="4709160"/>
            <a:ext cx="7863840" cy="228600"/>
          </a:xfrm>
          <a:prstGeom prst="rect">
            <a:avLst/>
          </a:prstGeom>
          <a:noFill/>
          <a:ln/>
        </p:spPr>
        <p:txBody>
          <a:bodyPr wrap="square" lIns="0" tIns="0" rIns="0" bIns="0" rtlCol="0" anchor="ctr"/>
          <a:lstStyle/>
          <a:p>
            <a:pPr algn="l" indent="0" marL="0">
              <a:buNone/>
            </a:pPr>
            <a:r>
              <a:rPr lang="en-US" sz="1000" i="1" dirty="0">
                <a:solidFill>
                  <a:srgbClr val="374151"/>
                </a:solidFill>
                <a:latin typeface="Arial" pitchFamily="34" charset="0"/>
                <a:ea typeface="Arial" pitchFamily="34" charset="-122"/>
                <a:cs typeface="Arial" pitchFamily="34" charset="-120"/>
              </a:rPr>
              <a:t>Post-event focus on scaling startups and providing investor connections for growth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3A8A"/>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COMPARATIVE ANALYSIS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3291840"/>
        </p:xfrm>
        <a:graphic>
          <a:graphicData uri="http://schemas.openxmlformats.org/drawingml/2006/table">
            <a:tbl>
              <a:tblPr/>
              <a:tblGrid>
                <a:gridCol w="1828800"/>
                <a:gridCol w="2103120"/>
                <a:gridCol w="2103120"/>
                <a:gridCol w="2103120"/>
              </a:tblGrid>
              <a:tr h="411480">
                <a:tc>
                  <a:txBody>
                    <a:bodyPr/>
                    <a:lstStyle/>
                    <a:p>
                      <a:pPr algn="ctr" indent="0" marL="0">
                        <a:buNone/>
                      </a:pPr>
                      <a:r>
                        <a:rPr lang="en-US" sz="1000" b="1" dirty="0">
                          <a:solidFill>
                            <a:srgbClr val="FFFFFF"/>
                          </a:solidFill>
                        </a:rPr>
                        <a:t>Aspect</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solidFill>
                      <a:srgbClr val="1E3A8A"/>
                    </a:solidFill>
                  </a:tcPr>
                </a:tc>
                <a:tc>
                  <a:txBody>
                    <a:bodyPr/>
                    <a:lstStyle/>
                    <a:p>
                      <a:pPr algn="ctr" indent="0" marL="0">
                        <a:buNone/>
                      </a:pPr>
                      <a:r>
                        <a:rPr lang="en-US" sz="1000" b="1" dirty="0">
                          <a:solidFill>
                            <a:srgbClr val="FFFFFF"/>
                          </a:solidFill>
                        </a:rPr>
                        <a:t>Leather Expo</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rPr>
                        <a:t>Book Fair</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solidFill>
                      <a:srgbClr val="DC2626"/>
                    </a:solidFill>
                  </a:tcPr>
                </a:tc>
                <a:tc>
                  <a:txBody>
                    <a:bodyPr/>
                    <a:lstStyle/>
                    <a:p>
                      <a:pPr algn="ctr" indent="0" marL="0">
                        <a:buNone/>
                      </a:pPr>
                      <a:r>
                        <a:rPr lang="en-US" sz="1000" b="1" dirty="0">
                          <a:solidFill>
                            <a:srgbClr val="FFFFFF"/>
                          </a:solidFill>
                        </a:rPr>
                        <a:t>ED Pavilion</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solidFill>
                      <a:srgbClr val="0D9488"/>
                    </a:solidFill>
                  </a:tcPr>
                </a:tc>
              </a:tr>
              <a:tr h="411480">
                <a:tc>
                  <a:txBody>
                    <a:bodyPr/>
                    <a:lstStyle/>
                    <a:p>
                      <a:pPr indent="0" marL="0">
                        <a:buNone/>
                      </a:pPr>
                      <a:r>
                        <a:rPr lang="en-US" sz="1000" dirty="0">
                          <a:solidFill>
                            <a:srgbClr val="000000"/>
                          </a:solidFill>
                        </a:rPr>
                        <a:t>Duration</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3 days</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17 days</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1 day</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r h="411480">
                <a:tc>
                  <a:txBody>
                    <a:bodyPr/>
                    <a:lstStyle/>
                    <a:p>
                      <a:pPr indent="0" marL="0">
                        <a:buNone/>
                      </a:pPr>
                      <a:r>
                        <a:rPr lang="en-US" sz="1000" dirty="0">
                          <a:solidFill>
                            <a:srgbClr val="000000"/>
                          </a:solidFill>
                        </a:rPr>
                        <a:t>Scale</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International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National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Institutional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r h="411480">
                <a:tc>
                  <a:txBody>
                    <a:bodyPr/>
                    <a:lstStyle/>
                    <a:p>
                      <a:pPr indent="0" marL="0">
                        <a:buNone/>
                      </a:pPr>
                      <a:r>
                        <a:rPr lang="en-US" sz="1000" dirty="0">
                          <a:solidFill>
                            <a:srgbClr val="000000"/>
                          </a:solidFill>
                        </a:rPr>
                        <a:t>Exhibitors</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300+</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1,000+</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50+</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r h="411480">
                <a:tc>
                  <a:txBody>
                    <a:bodyPr/>
                    <a:lstStyle/>
                    <a:p>
                      <a:pPr indent="0" marL="0">
                        <a:buNone/>
                      </a:pPr>
                      <a:r>
                        <a:rPr lang="en-US" sz="1000" dirty="0">
                          <a:solidFill>
                            <a:srgbClr val="000000"/>
                          </a:solidFill>
                        </a:rPr>
                        <a:t>Visitors</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100,000+</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600,000+</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500+</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r h="411480">
                <a:tc>
                  <a:txBody>
                    <a:bodyPr/>
                    <a:lstStyle/>
                    <a:p>
                      <a:pPr indent="0" marL="0">
                        <a:buNone/>
                      </a:pPr>
                      <a:r>
                        <a:rPr lang="en-US" sz="1000" dirty="0">
                          <a:solidFill>
                            <a:srgbClr val="000000"/>
                          </a:solidFill>
                        </a:rPr>
                        <a:t>Budget</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₹42.8L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High</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₹20K</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r h="411480">
                <a:tc>
                  <a:txBody>
                    <a:bodyPr/>
                    <a:lstStyle/>
                    <a:p>
                      <a:pPr indent="0" marL="0">
                        <a:buNone/>
                      </a:pPr>
                      <a:r>
                        <a:rPr lang="en-US" sz="1000" dirty="0">
                          <a:solidFill>
                            <a:srgbClr val="000000"/>
                          </a:solidFill>
                        </a:rPr>
                        <a:t>Purpose</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Trade &amp; Business</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Culture &amp; Literature</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Innovation &amp; Growth</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r h="411480">
                <a:tc>
                  <a:txBody>
                    <a:bodyPr/>
                    <a:lstStyle/>
                    <a:p>
                      <a:pPr indent="0" marL="0">
                        <a:buNone/>
                      </a:pPr>
                      <a:r>
                        <a:rPr lang="en-US" sz="1000" dirty="0">
                          <a:solidFill>
                            <a:srgbClr val="000000"/>
                          </a:solidFill>
                        </a:rPr>
                        <a:t>Frequency</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Annual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Annual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c>
                  <a:txBody>
                    <a:bodyPr/>
                    <a:lstStyle/>
                    <a:p>
                      <a:pPr indent="0" marL="0">
                        <a:buNone/>
                      </a:pPr>
                      <a:r>
                        <a:rPr lang="en-US" sz="1000" dirty="0">
                          <a:solidFill>
                            <a:srgbClr val="000000"/>
                          </a:solidFill>
                        </a:rPr>
                        <a:t>Annual</a:t>
                      </a:r>
                      <a:endParaRPr lang="en-US" sz="1000" dirty="0"/>
                    </a:p>
                  </a:txBody>
                  <a:tcPr marL="91440" marR="91440" marT="45720" marB="45720">
                    <a:lnL w="12700" cap="flat" cmpd="sng" algn="ctr">
                      <a:solidFill>
                        <a:srgbClr val="374151"/>
                      </a:solidFill>
                      <a:prstDash val="solid"/>
                      <a:round/>
                      <a:headEnd type="none" w="med" len="med"/>
                      <a:tailEnd type="none" w="med" len="med"/>
                    </a:lnL>
                    <a:lnR w="12700" cap="flat" cmpd="sng" algn="ctr">
                      <a:solidFill>
                        <a:srgbClr val="374151"/>
                      </a:solidFill>
                      <a:prstDash val="solid"/>
                      <a:round/>
                      <a:headEnd type="none" w="med" len="med"/>
                      <a:tailEnd type="none" w="med" len="med"/>
                    </a:lnR>
                    <a:lnT w="12700" cap="flat" cmpd="sng" algn="ctr">
                      <a:solidFill>
                        <a:srgbClr val="374151"/>
                      </a:solidFill>
                      <a:prstDash val="solid"/>
                      <a:round/>
                      <a:headEnd type="none" w="med" len="med"/>
                      <a:tailEnd type="none" w="med" len="med"/>
                    </a:lnT>
                    <a:lnB w="12700" cap="flat" cmpd="sng" algn="ctr">
                      <a:solidFill>
                        <a:srgbClr val="374151"/>
                      </a:solidFill>
                      <a:prstDash val="solid"/>
                      <a:round/>
                      <a:headEnd type="none" w="med" len="med"/>
                      <a:tailEnd type="none" w="med" len="med"/>
                    </a:lnB>
                  </a:tcPr>
                </a:tc>
              </a:tr>
            </a:tbl>
          </a:graphicData>
        </a:graphic>
      </p:graphicFrame>
      <p:sp>
        <p:nvSpPr>
          <p:cNvPr id="5" name="Shape 2"/>
          <p:cNvSpPr/>
          <p:nvPr/>
        </p:nvSpPr>
        <p:spPr>
          <a:xfrm>
            <a:off x="457200" y="4297680"/>
            <a:ext cx="8229600" cy="640080"/>
          </a:xfrm>
          <a:prstGeom prst="rect">
            <a:avLst/>
          </a:prstGeom>
          <a:solidFill>
            <a:srgbClr val="F3F4F6"/>
          </a:solidFill>
          <a:ln w="25400">
            <a:solidFill>
              <a:srgbClr val="1E3A8A"/>
            </a:solidFill>
            <a:prstDash val="solid"/>
          </a:ln>
        </p:spPr>
      </p:sp>
      <p:sp>
        <p:nvSpPr>
          <p:cNvPr id="6" name="Text 3"/>
          <p:cNvSpPr/>
          <p:nvPr/>
        </p:nvSpPr>
        <p:spPr>
          <a:xfrm>
            <a:off x="640080" y="4370832"/>
            <a:ext cx="1371600" cy="228600"/>
          </a:xfrm>
          <a:prstGeom prst="rect">
            <a:avLst/>
          </a:prstGeom>
          <a:noFill/>
          <a:ln/>
        </p:spPr>
        <p:txBody>
          <a:bodyPr wrap="square" lIns="0" tIns="0" rIns="0" bIns="0" rtlCol="0" anchor="ctr"/>
          <a:lstStyle/>
          <a:p>
            <a:pPr algn="l" indent="0" marL="0">
              <a:buNone/>
            </a:pPr>
            <a:r>
              <a:rPr lang="en-US" sz="1200" b="1" dirty="0">
                <a:solidFill>
                  <a:srgbClr val="1E3A8A"/>
                </a:solidFill>
                <a:latin typeface="Arial" pitchFamily="34" charset="0"/>
                <a:ea typeface="Arial" pitchFamily="34" charset="-122"/>
                <a:cs typeface="Arial" pitchFamily="34" charset="-120"/>
              </a:rPr>
              <a:t>KEY FINDING:</a:t>
            </a:r>
            <a:endParaRPr lang="en-US" sz="1200" dirty="0"/>
          </a:p>
        </p:txBody>
      </p:sp>
      <p:sp>
        <p:nvSpPr>
          <p:cNvPr id="7" name="Text 4"/>
          <p:cNvSpPr/>
          <p:nvPr/>
        </p:nvSpPr>
        <p:spPr>
          <a:xfrm>
            <a:off x="2103120" y="4370832"/>
            <a:ext cx="6400800" cy="50292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Each event serves distinct market segments and objectives. Leather Expo focuses on B2B trade, Book Fair on cultural promotion, and ED Pavilion on innovation. Effective event management requires tailored strategies based on target audience and goals.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3A8A"/>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EVENT MANAGEMENT FRAMEWORK</a:t>
            </a:r>
            <a:endParaRPr lang="en-US" sz="3200" dirty="0"/>
          </a:p>
        </p:txBody>
      </p:sp>
      <p:sp>
        <p:nvSpPr>
          <p:cNvPr id="4" name="Shape 2"/>
          <p:cNvSpPr/>
          <p:nvPr/>
        </p:nvSpPr>
        <p:spPr>
          <a:xfrm>
            <a:off x="457200" y="1005840"/>
            <a:ext cx="8229600" cy="320040"/>
          </a:xfrm>
          <a:prstGeom prst="rect">
            <a:avLst/>
          </a:prstGeom>
          <a:solidFill>
            <a:srgbClr val="1E3A8A"/>
          </a:solidFill>
          <a:ln/>
        </p:spPr>
      </p:sp>
      <p:sp>
        <p:nvSpPr>
          <p:cNvPr id="5" name="Text 3"/>
          <p:cNvSpPr/>
          <p:nvPr/>
        </p:nvSpPr>
        <p:spPr>
          <a:xfrm>
            <a:off x="640080" y="1005840"/>
            <a:ext cx="182880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PLANNING</a:t>
            </a:r>
            <a:endParaRPr lang="en-US" sz="1100" dirty="0"/>
          </a:p>
        </p:txBody>
      </p:sp>
      <p:sp>
        <p:nvSpPr>
          <p:cNvPr id="6" name="Text 4"/>
          <p:cNvSpPr/>
          <p:nvPr/>
        </p:nvSpPr>
        <p:spPr>
          <a:xfrm>
            <a:off x="2743200" y="1005840"/>
            <a:ext cx="5760720" cy="320040"/>
          </a:xfrm>
          <a:prstGeom prst="rect">
            <a:avLst/>
          </a:prstGeom>
          <a:noFill/>
          <a:ln/>
        </p:spPr>
        <p:txBody>
          <a:bodyPr wrap="square" lIns="0" tIns="0" rIns="0" bIns="0" rtlCol="0" anchor="ctr"/>
          <a:lstStyle/>
          <a:p>
            <a:pPr algn="l" indent="0" marL="0">
              <a:buNone/>
            </a:pPr>
            <a:r>
              <a:rPr lang="en-US" sz="1000" dirty="0">
                <a:solidFill>
                  <a:srgbClr val="FFFFFF"/>
                </a:solidFill>
                <a:latin typeface="Arial" pitchFamily="34" charset="0"/>
                <a:ea typeface="Arial" pitchFamily="34" charset="-122"/>
                <a:cs typeface="Arial" pitchFamily="34" charset="-120"/>
              </a:rPr>
              <a:t>Define objectives  •  Identify target audience  •  Set budget &amp; timeline  •  Secure venue &amp; permits</a:t>
            </a:r>
            <a:endParaRPr lang="en-US" sz="1000" dirty="0"/>
          </a:p>
        </p:txBody>
      </p:sp>
      <p:sp>
        <p:nvSpPr>
          <p:cNvPr id="7" name="Shape 5"/>
          <p:cNvSpPr/>
          <p:nvPr/>
        </p:nvSpPr>
        <p:spPr>
          <a:xfrm>
            <a:off x="457200" y="1389888"/>
            <a:ext cx="8229600" cy="320040"/>
          </a:xfrm>
          <a:prstGeom prst="rect">
            <a:avLst/>
          </a:prstGeom>
          <a:solidFill>
            <a:srgbClr val="1E3A8A"/>
          </a:solidFill>
          <a:ln/>
        </p:spPr>
      </p:sp>
      <p:sp>
        <p:nvSpPr>
          <p:cNvPr id="8" name="Text 6"/>
          <p:cNvSpPr/>
          <p:nvPr/>
        </p:nvSpPr>
        <p:spPr>
          <a:xfrm>
            <a:off x="640080" y="1389888"/>
            <a:ext cx="182880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ORGANIZATION</a:t>
            </a:r>
            <a:endParaRPr lang="en-US" sz="1100" dirty="0"/>
          </a:p>
        </p:txBody>
      </p:sp>
      <p:sp>
        <p:nvSpPr>
          <p:cNvPr id="9" name="Text 7"/>
          <p:cNvSpPr/>
          <p:nvPr/>
        </p:nvSpPr>
        <p:spPr>
          <a:xfrm>
            <a:off x="2743200" y="1389888"/>
            <a:ext cx="5760720" cy="320040"/>
          </a:xfrm>
          <a:prstGeom prst="rect">
            <a:avLst/>
          </a:prstGeom>
          <a:noFill/>
          <a:ln/>
        </p:spPr>
        <p:txBody>
          <a:bodyPr wrap="square" lIns="0" tIns="0" rIns="0" bIns="0" rtlCol="0" anchor="ctr"/>
          <a:lstStyle/>
          <a:p>
            <a:pPr algn="l" indent="0" marL="0">
              <a:buNone/>
            </a:pPr>
            <a:r>
              <a:rPr lang="en-US" sz="1000" dirty="0">
                <a:solidFill>
                  <a:srgbClr val="FFFFFF"/>
                </a:solidFill>
                <a:latin typeface="Arial" pitchFamily="34" charset="0"/>
                <a:ea typeface="Arial" pitchFamily="34" charset="-122"/>
                <a:cs typeface="Arial" pitchFamily="34" charset="-120"/>
              </a:rPr>
              <a:t>Recruit team &amp; staff  •  Arrange logistics  •  Coordinate suppliers  •  Manage infrastructure</a:t>
            </a:r>
            <a:endParaRPr lang="en-US" sz="1000" dirty="0"/>
          </a:p>
        </p:txBody>
      </p:sp>
      <p:sp>
        <p:nvSpPr>
          <p:cNvPr id="10" name="Shape 8"/>
          <p:cNvSpPr/>
          <p:nvPr/>
        </p:nvSpPr>
        <p:spPr>
          <a:xfrm>
            <a:off x="457200" y="1773936"/>
            <a:ext cx="8229600" cy="320040"/>
          </a:xfrm>
          <a:prstGeom prst="rect">
            <a:avLst/>
          </a:prstGeom>
          <a:solidFill>
            <a:srgbClr val="1E3A8A"/>
          </a:solidFill>
          <a:ln/>
        </p:spPr>
      </p:sp>
      <p:sp>
        <p:nvSpPr>
          <p:cNvPr id="11" name="Text 9"/>
          <p:cNvSpPr/>
          <p:nvPr/>
        </p:nvSpPr>
        <p:spPr>
          <a:xfrm>
            <a:off x="640080" y="1773936"/>
            <a:ext cx="182880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PROMOTION</a:t>
            </a:r>
            <a:endParaRPr lang="en-US" sz="1100" dirty="0"/>
          </a:p>
        </p:txBody>
      </p:sp>
      <p:sp>
        <p:nvSpPr>
          <p:cNvPr id="12" name="Text 10"/>
          <p:cNvSpPr/>
          <p:nvPr/>
        </p:nvSpPr>
        <p:spPr>
          <a:xfrm>
            <a:off x="2743200" y="1773936"/>
            <a:ext cx="5760720" cy="320040"/>
          </a:xfrm>
          <a:prstGeom prst="rect">
            <a:avLst/>
          </a:prstGeom>
          <a:noFill/>
          <a:ln/>
        </p:spPr>
        <p:txBody>
          <a:bodyPr wrap="square" lIns="0" tIns="0" rIns="0" bIns="0" rtlCol="0" anchor="ctr"/>
          <a:lstStyle/>
          <a:p>
            <a:pPr algn="l" indent="0" marL="0">
              <a:buNone/>
            </a:pPr>
            <a:r>
              <a:rPr lang="en-US" sz="1000" dirty="0">
                <a:solidFill>
                  <a:srgbClr val="FFFFFF"/>
                </a:solidFill>
                <a:latin typeface="Arial" pitchFamily="34" charset="0"/>
                <a:ea typeface="Arial" pitchFamily="34" charset="-122"/>
                <a:cs typeface="Arial" pitchFamily="34" charset="-120"/>
              </a:rPr>
              <a:t>Marketing campaigns  •  Media outreach  •  Exhibitor recruitment  •  Visitor engagement</a:t>
            </a:r>
            <a:endParaRPr lang="en-US" sz="1000" dirty="0"/>
          </a:p>
        </p:txBody>
      </p:sp>
      <p:sp>
        <p:nvSpPr>
          <p:cNvPr id="13" name="Shape 11"/>
          <p:cNvSpPr/>
          <p:nvPr/>
        </p:nvSpPr>
        <p:spPr>
          <a:xfrm>
            <a:off x="457200" y="2157984"/>
            <a:ext cx="8229600" cy="320040"/>
          </a:xfrm>
          <a:prstGeom prst="rect">
            <a:avLst/>
          </a:prstGeom>
          <a:solidFill>
            <a:srgbClr val="1E3A8A"/>
          </a:solidFill>
          <a:ln/>
        </p:spPr>
      </p:sp>
      <p:sp>
        <p:nvSpPr>
          <p:cNvPr id="14" name="Text 12"/>
          <p:cNvSpPr/>
          <p:nvPr/>
        </p:nvSpPr>
        <p:spPr>
          <a:xfrm>
            <a:off x="640080" y="2157984"/>
            <a:ext cx="182880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EXECUTION</a:t>
            </a:r>
            <a:endParaRPr lang="en-US" sz="1100" dirty="0"/>
          </a:p>
        </p:txBody>
      </p:sp>
      <p:sp>
        <p:nvSpPr>
          <p:cNvPr id="15" name="Text 13"/>
          <p:cNvSpPr/>
          <p:nvPr/>
        </p:nvSpPr>
        <p:spPr>
          <a:xfrm>
            <a:off x="2743200" y="2157984"/>
            <a:ext cx="5760720" cy="320040"/>
          </a:xfrm>
          <a:prstGeom prst="rect">
            <a:avLst/>
          </a:prstGeom>
          <a:noFill/>
          <a:ln/>
        </p:spPr>
        <p:txBody>
          <a:bodyPr wrap="square" lIns="0" tIns="0" rIns="0" bIns="0" rtlCol="0" anchor="ctr"/>
          <a:lstStyle/>
          <a:p>
            <a:pPr algn="l" indent="0" marL="0">
              <a:buNone/>
            </a:pPr>
            <a:r>
              <a:rPr lang="en-US" sz="1000" dirty="0">
                <a:solidFill>
                  <a:srgbClr val="FFFFFF"/>
                </a:solidFill>
                <a:latin typeface="Arial" pitchFamily="34" charset="0"/>
                <a:ea typeface="Arial" pitchFamily="34" charset="-122"/>
                <a:cs typeface="Arial" pitchFamily="34" charset="-120"/>
              </a:rPr>
              <a:t>Manage registrations  •  Oversee operations  •  Handle troubleshooting  •  Ensure safety &amp; security</a:t>
            </a:r>
            <a:endParaRPr lang="en-US" sz="1000" dirty="0"/>
          </a:p>
        </p:txBody>
      </p:sp>
      <p:sp>
        <p:nvSpPr>
          <p:cNvPr id="16" name="Shape 14"/>
          <p:cNvSpPr/>
          <p:nvPr/>
        </p:nvSpPr>
        <p:spPr>
          <a:xfrm>
            <a:off x="457200" y="2542032"/>
            <a:ext cx="8229600" cy="320040"/>
          </a:xfrm>
          <a:prstGeom prst="rect">
            <a:avLst/>
          </a:prstGeom>
          <a:solidFill>
            <a:srgbClr val="1E3A8A"/>
          </a:solidFill>
          <a:ln/>
        </p:spPr>
      </p:sp>
      <p:sp>
        <p:nvSpPr>
          <p:cNvPr id="17" name="Text 15"/>
          <p:cNvSpPr/>
          <p:nvPr/>
        </p:nvSpPr>
        <p:spPr>
          <a:xfrm>
            <a:off x="640080" y="2542032"/>
            <a:ext cx="182880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EVALUATION</a:t>
            </a:r>
            <a:endParaRPr lang="en-US" sz="1100" dirty="0"/>
          </a:p>
        </p:txBody>
      </p:sp>
      <p:sp>
        <p:nvSpPr>
          <p:cNvPr id="18" name="Text 16"/>
          <p:cNvSpPr/>
          <p:nvPr/>
        </p:nvSpPr>
        <p:spPr>
          <a:xfrm>
            <a:off x="2743200" y="2542032"/>
            <a:ext cx="5760720" cy="320040"/>
          </a:xfrm>
          <a:prstGeom prst="rect">
            <a:avLst/>
          </a:prstGeom>
          <a:noFill/>
          <a:ln/>
        </p:spPr>
        <p:txBody>
          <a:bodyPr wrap="square" lIns="0" tIns="0" rIns="0" bIns="0" rtlCol="0" anchor="ctr"/>
          <a:lstStyle/>
          <a:p>
            <a:pPr algn="l" indent="0" marL="0">
              <a:buNone/>
            </a:pPr>
            <a:r>
              <a:rPr lang="en-US" sz="1000" dirty="0">
                <a:solidFill>
                  <a:srgbClr val="FFFFFF"/>
                </a:solidFill>
                <a:latin typeface="Arial" pitchFamily="34" charset="0"/>
                <a:ea typeface="Arial" pitchFamily="34" charset="-122"/>
                <a:cs typeface="Arial" pitchFamily="34" charset="-120"/>
              </a:rPr>
              <a:t>Collect feedback  •  Measure KPIs  •  Analyze success  •  Document learnings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3A8A"/>
          </a:solidFill>
          <a:ln/>
        </p:spPr>
      </p:sp>
      <p:sp>
        <p:nvSpPr>
          <p:cNvPr id="3" name="Text 1"/>
          <p:cNvSpPr/>
          <p:nvPr/>
        </p:nvSpPr>
        <p:spPr>
          <a:xfrm>
            <a:off x="457200" y="182880"/>
            <a:ext cx="8229600" cy="365760"/>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KEY LEARNING OUTCOMES</a:t>
            </a:r>
            <a:endParaRPr lang="en-US" sz="3200" dirty="0"/>
          </a:p>
        </p:txBody>
      </p:sp>
      <p:sp>
        <p:nvSpPr>
          <p:cNvPr id="4" name="Shape 2"/>
          <p:cNvSpPr/>
          <p:nvPr/>
        </p:nvSpPr>
        <p:spPr>
          <a:xfrm>
            <a:off x="457200" y="1005840"/>
            <a:ext cx="73152" cy="777240"/>
          </a:xfrm>
          <a:prstGeom prst="rect">
            <a:avLst/>
          </a:prstGeom>
          <a:solidFill>
            <a:srgbClr val="1E3A8A"/>
          </a:solidFill>
          <a:ln/>
        </p:spPr>
      </p:sp>
      <p:sp>
        <p:nvSpPr>
          <p:cNvPr id="5" name="Shape 3"/>
          <p:cNvSpPr/>
          <p:nvPr/>
        </p:nvSpPr>
        <p:spPr>
          <a:xfrm>
            <a:off x="530352" y="1078992"/>
            <a:ext cx="320040" cy="320040"/>
          </a:xfrm>
          <a:prstGeom prst="ellipse">
            <a:avLst/>
          </a:prstGeom>
          <a:solidFill>
            <a:srgbClr val="2563EB"/>
          </a:solidFill>
          <a:ln/>
        </p:spPr>
      </p:sp>
      <p:sp>
        <p:nvSpPr>
          <p:cNvPr id="6" name="Text 4"/>
          <p:cNvSpPr/>
          <p:nvPr/>
        </p:nvSpPr>
        <p:spPr>
          <a:xfrm>
            <a:off x="530352" y="1078992"/>
            <a:ext cx="3200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960120" y="1051560"/>
            <a:ext cx="3566160" cy="228600"/>
          </a:xfrm>
          <a:prstGeom prst="rect">
            <a:avLst/>
          </a:prstGeom>
          <a:noFill/>
          <a:ln/>
        </p:spPr>
        <p:txBody>
          <a:bodyPr wrap="square" lIns="0" tIns="0" rIns="0" bIns="0" rtlCol="0" anchor="ctr"/>
          <a:lstStyle/>
          <a:p>
            <a:pPr algn="l" indent="0" marL="0">
              <a:buNone/>
            </a:pPr>
            <a:r>
              <a:rPr lang="en-US" sz="1100" b="1" dirty="0">
                <a:solidFill>
                  <a:srgbClr val="1E3A8A"/>
                </a:solidFill>
                <a:latin typeface="Arial" pitchFamily="34" charset="0"/>
                <a:ea typeface="Arial" pitchFamily="34" charset="-122"/>
                <a:cs typeface="Arial" pitchFamily="34" charset="-120"/>
              </a:rPr>
              <a:t>Event Planning Complexity</a:t>
            </a:r>
            <a:endParaRPr lang="en-US" sz="1100" dirty="0"/>
          </a:p>
        </p:txBody>
      </p:sp>
      <p:sp>
        <p:nvSpPr>
          <p:cNvPr id="8" name="Text 6"/>
          <p:cNvSpPr/>
          <p:nvPr/>
        </p:nvSpPr>
        <p:spPr>
          <a:xfrm>
            <a:off x="960120" y="1298448"/>
            <a:ext cx="3566160" cy="41148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Large-scale events require meticulous planning, coordination, and resource management across multiple stakeholders</a:t>
            </a:r>
            <a:endParaRPr lang="en-US" sz="1000" dirty="0"/>
          </a:p>
        </p:txBody>
      </p:sp>
      <p:sp>
        <p:nvSpPr>
          <p:cNvPr id="9" name="Shape 7"/>
          <p:cNvSpPr/>
          <p:nvPr/>
        </p:nvSpPr>
        <p:spPr>
          <a:xfrm>
            <a:off x="457200" y="1920240"/>
            <a:ext cx="73152" cy="777240"/>
          </a:xfrm>
          <a:prstGeom prst="rect">
            <a:avLst/>
          </a:prstGeom>
          <a:solidFill>
            <a:srgbClr val="1E3A8A"/>
          </a:solidFill>
          <a:ln/>
        </p:spPr>
      </p:sp>
      <p:sp>
        <p:nvSpPr>
          <p:cNvPr id="10" name="Shape 8"/>
          <p:cNvSpPr/>
          <p:nvPr/>
        </p:nvSpPr>
        <p:spPr>
          <a:xfrm>
            <a:off x="530352" y="1993392"/>
            <a:ext cx="320040" cy="320040"/>
          </a:xfrm>
          <a:prstGeom prst="ellipse">
            <a:avLst/>
          </a:prstGeom>
          <a:solidFill>
            <a:srgbClr val="2563EB"/>
          </a:solidFill>
          <a:ln/>
        </p:spPr>
      </p:sp>
      <p:sp>
        <p:nvSpPr>
          <p:cNvPr id="11" name="Text 9"/>
          <p:cNvSpPr/>
          <p:nvPr/>
        </p:nvSpPr>
        <p:spPr>
          <a:xfrm>
            <a:off x="530352" y="1993392"/>
            <a:ext cx="3200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960120" y="1965960"/>
            <a:ext cx="3566160" cy="228600"/>
          </a:xfrm>
          <a:prstGeom prst="rect">
            <a:avLst/>
          </a:prstGeom>
          <a:noFill/>
          <a:ln/>
        </p:spPr>
        <p:txBody>
          <a:bodyPr wrap="square" lIns="0" tIns="0" rIns="0" bIns="0" rtlCol="0" anchor="ctr"/>
          <a:lstStyle/>
          <a:p>
            <a:pPr algn="l" indent="0" marL="0">
              <a:buNone/>
            </a:pPr>
            <a:r>
              <a:rPr lang="en-US" sz="1100" b="1" dirty="0">
                <a:solidFill>
                  <a:srgbClr val="1E3A8A"/>
                </a:solidFill>
                <a:latin typeface="Arial" pitchFamily="34" charset="0"/>
                <a:ea typeface="Arial" pitchFamily="34" charset="-122"/>
                <a:cs typeface="Arial" pitchFamily="34" charset="-120"/>
              </a:rPr>
              <a:t>Stakeholder Management</a:t>
            </a:r>
            <a:endParaRPr lang="en-US" sz="1100" dirty="0"/>
          </a:p>
        </p:txBody>
      </p:sp>
      <p:sp>
        <p:nvSpPr>
          <p:cNvPr id="13" name="Text 11"/>
          <p:cNvSpPr/>
          <p:nvPr/>
        </p:nvSpPr>
        <p:spPr>
          <a:xfrm>
            <a:off x="960120" y="2212848"/>
            <a:ext cx="3566160" cy="41148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Success depends on effective engagement with exhibitors, visitors, sponsors, media, and government agencies</a:t>
            </a:r>
            <a:endParaRPr lang="en-US" sz="1000" dirty="0"/>
          </a:p>
        </p:txBody>
      </p:sp>
      <p:sp>
        <p:nvSpPr>
          <p:cNvPr id="14" name="Shape 12"/>
          <p:cNvSpPr/>
          <p:nvPr/>
        </p:nvSpPr>
        <p:spPr>
          <a:xfrm>
            <a:off x="457200" y="2834640"/>
            <a:ext cx="73152" cy="777240"/>
          </a:xfrm>
          <a:prstGeom prst="rect">
            <a:avLst/>
          </a:prstGeom>
          <a:solidFill>
            <a:srgbClr val="1E3A8A"/>
          </a:solidFill>
          <a:ln/>
        </p:spPr>
      </p:sp>
      <p:sp>
        <p:nvSpPr>
          <p:cNvPr id="15" name="Shape 13"/>
          <p:cNvSpPr/>
          <p:nvPr/>
        </p:nvSpPr>
        <p:spPr>
          <a:xfrm>
            <a:off x="530352" y="2907792"/>
            <a:ext cx="320040" cy="320040"/>
          </a:xfrm>
          <a:prstGeom prst="ellipse">
            <a:avLst/>
          </a:prstGeom>
          <a:solidFill>
            <a:srgbClr val="2563EB"/>
          </a:solidFill>
          <a:ln/>
        </p:spPr>
      </p:sp>
      <p:sp>
        <p:nvSpPr>
          <p:cNvPr id="16" name="Text 14"/>
          <p:cNvSpPr/>
          <p:nvPr/>
        </p:nvSpPr>
        <p:spPr>
          <a:xfrm>
            <a:off x="530352" y="2907792"/>
            <a:ext cx="3200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960120" y="2880360"/>
            <a:ext cx="3566160" cy="228600"/>
          </a:xfrm>
          <a:prstGeom prst="rect">
            <a:avLst/>
          </a:prstGeom>
          <a:noFill/>
          <a:ln/>
        </p:spPr>
        <p:txBody>
          <a:bodyPr wrap="square" lIns="0" tIns="0" rIns="0" bIns="0" rtlCol="0" anchor="ctr"/>
          <a:lstStyle/>
          <a:p>
            <a:pPr algn="l" indent="0" marL="0">
              <a:buNone/>
            </a:pPr>
            <a:r>
              <a:rPr lang="en-US" sz="1100" b="1" dirty="0">
                <a:solidFill>
                  <a:srgbClr val="1E3A8A"/>
                </a:solidFill>
                <a:latin typeface="Arial" pitchFamily="34" charset="0"/>
                <a:ea typeface="Arial" pitchFamily="34" charset="-122"/>
                <a:cs typeface="Arial" pitchFamily="34" charset="-120"/>
              </a:rPr>
              <a:t>Business Networking</a:t>
            </a:r>
            <a:endParaRPr lang="en-US" sz="1100" dirty="0"/>
          </a:p>
        </p:txBody>
      </p:sp>
      <p:sp>
        <p:nvSpPr>
          <p:cNvPr id="18" name="Text 16"/>
          <p:cNvSpPr/>
          <p:nvPr/>
        </p:nvSpPr>
        <p:spPr>
          <a:xfrm>
            <a:off x="960120" y="3127248"/>
            <a:ext cx="3566160" cy="41148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Events create valuable B2B and B2C connections, partnerships, and market opportunities</a:t>
            </a:r>
            <a:endParaRPr lang="en-US" sz="1000" dirty="0"/>
          </a:p>
        </p:txBody>
      </p:sp>
      <p:sp>
        <p:nvSpPr>
          <p:cNvPr id="19" name="Shape 17"/>
          <p:cNvSpPr/>
          <p:nvPr/>
        </p:nvSpPr>
        <p:spPr>
          <a:xfrm>
            <a:off x="5029200" y="1005840"/>
            <a:ext cx="73152" cy="777240"/>
          </a:xfrm>
          <a:prstGeom prst="rect">
            <a:avLst/>
          </a:prstGeom>
          <a:solidFill>
            <a:srgbClr val="DC2626"/>
          </a:solidFill>
          <a:ln/>
        </p:spPr>
      </p:sp>
      <p:sp>
        <p:nvSpPr>
          <p:cNvPr id="20" name="Shape 18"/>
          <p:cNvSpPr/>
          <p:nvPr/>
        </p:nvSpPr>
        <p:spPr>
          <a:xfrm>
            <a:off x="5102352" y="1078992"/>
            <a:ext cx="320040" cy="320040"/>
          </a:xfrm>
          <a:prstGeom prst="ellipse">
            <a:avLst/>
          </a:prstGeom>
          <a:solidFill>
            <a:srgbClr val="2563EB"/>
          </a:solidFill>
          <a:ln/>
        </p:spPr>
      </p:sp>
      <p:sp>
        <p:nvSpPr>
          <p:cNvPr id="21" name="Text 19"/>
          <p:cNvSpPr/>
          <p:nvPr/>
        </p:nvSpPr>
        <p:spPr>
          <a:xfrm>
            <a:off x="5102352" y="1078992"/>
            <a:ext cx="3200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5532120" y="1051560"/>
            <a:ext cx="3566160" cy="228600"/>
          </a:xfrm>
          <a:prstGeom prst="rect">
            <a:avLst/>
          </a:prstGeom>
          <a:noFill/>
          <a:ln/>
        </p:spPr>
        <p:txBody>
          <a:bodyPr wrap="square" lIns="0" tIns="0" rIns="0" bIns="0" rtlCol="0" anchor="ctr"/>
          <a:lstStyle/>
          <a:p>
            <a:pPr algn="l" indent="0" marL="0">
              <a:buNone/>
            </a:pPr>
            <a:r>
              <a:rPr lang="en-US" sz="1100" b="1" dirty="0">
                <a:solidFill>
                  <a:srgbClr val="1E3A8A"/>
                </a:solidFill>
                <a:latin typeface="Arial" pitchFamily="34" charset="0"/>
                <a:ea typeface="Arial" pitchFamily="34" charset="-122"/>
                <a:cs typeface="Arial" pitchFamily="34" charset="-120"/>
              </a:rPr>
              <a:t>Economic Impact</a:t>
            </a:r>
            <a:endParaRPr lang="en-US" sz="1100" dirty="0"/>
          </a:p>
        </p:txBody>
      </p:sp>
      <p:sp>
        <p:nvSpPr>
          <p:cNvPr id="23" name="Text 21"/>
          <p:cNvSpPr/>
          <p:nvPr/>
        </p:nvSpPr>
        <p:spPr>
          <a:xfrm>
            <a:off x="5532120" y="1298448"/>
            <a:ext cx="3566160" cy="41148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Well-executed events generate significant economic benefits, employment, and boost for local communities and businesses</a:t>
            </a:r>
            <a:endParaRPr lang="en-US" sz="1000" dirty="0"/>
          </a:p>
        </p:txBody>
      </p:sp>
      <p:sp>
        <p:nvSpPr>
          <p:cNvPr id="24" name="Shape 22"/>
          <p:cNvSpPr/>
          <p:nvPr/>
        </p:nvSpPr>
        <p:spPr>
          <a:xfrm>
            <a:off x="5029200" y="1920240"/>
            <a:ext cx="73152" cy="777240"/>
          </a:xfrm>
          <a:prstGeom prst="rect">
            <a:avLst/>
          </a:prstGeom>
          <a:solidFill>
            <a:srgbClr val="DC2626"/>
          </a:solidFill>
          <a:ln/>
        </p:spPr>
      </p:sp>
      <p:sp>
        <p:nvSpPr>
          <p:cNvPr id="25" name="Shape 23"/>
          <p:cNvSpPr/>
          <p:nvPr/>
        </p:nvSpPr>
        <p:spPr>
          <a:xfrm>
            <a:off x="5102352" y="1993392"/>
            <a:ext cx="320040" cy="320040"/>
          </a:xfrm>
          <a:prstGeom prst="ellipse">
            <a:avLst/>
          </a:prstGeom>
          <a:solidFill>
            <a:srgbClr val="2563EB"/>
          </a:solidFill>
          <a:ln/>
        </p:spPr>
      </p:sp>
      <p:sp>
        <p:nvSpPr>
          <p:cNvPr id="26" name="Text 24"/>
          <p:cNvSpPr/>
          <p:nvPr/>
        </p:nvSpPr>
        <p:spPr>
          <a:xfrm>
            <a:off x="5102352" y="1993392"/>
            <a:ext cx="3200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5532120" y="1965960"/>
            <a:ext cx="3566160" cy="228600"/>
          </a:xfrm>
          <a:prstGeom prst="rect">
            <a:avLst/>
          </a:prstGeom>
          <a:noFill/>
          <a:ln/>
        </p:spPr>
        <p:txBody>
          <a:bodyPr wrap="square" lIns="0" tIns="0" rIns="0" bIns="0" rtlCol="0" anchor="ctr"/>
          <a:lstStyle/>
          <a:p>
            <a:pPr algn="l" indent="0" marL="0">
              <a:buNone/>
            </a:pPr>
            <a:r>
              <a:rPr lang="en-US" sz="1100" b="1" dirty="0">
                <a:solidFill>
                  <a:srgbClr val="1E3A8A"/>
                </a:solidFill>
                <a:latin typeface="Arial" pitchFamily="34" charset="0"/>
                <a:ea typeface="Arial" pitchFamily="34" charset="-122"/>
                <a:cs typeface="Arial" pitchFamily="34" charset="-120"/>
              </a:rPr>
              <a:t>Cultural Significance</a:t>
            </a:r>
            <a:endParaRPr lang="en-US" sz="1100" dirty="0"/>
          </a:p>
        </p:txBody>
      </p:sp>
      <p:sp>
        <p:nvSpPr>
          <p:cNvPr id="28" name="Text 26"/>
          <p:cNvSpPr/>
          <p:nvPr/>
        </p:nvSpPr>
        <p:spPr>
          <a:xfrm>
            <a:off x="5532120" y="2212848"/>
            <a:ext cx="3566160" cy="41148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Events celebrate culture, promote innovation, education, and bring diverse communities together for shared experiences</a:t>
            </a:r>
            <a:endParaRPr lang="en-US" sz="1000" dirty="0"/>
          </a:p>
        </p:txBody>
      </p:sp>
      <p:sp>
        <p:nvSpPr>
          <p:cNvPr id="29" name="Shape 27"/>
          <p:cNvSpPr/>
          <p:nvPr/>
        </p:nvSpPr>
        <p:spPr>
          <a:xfrm>
            <a:off x="5029200" y="2834640"/>
            <a:ext cx="73152" cy="777240"/>
          </a:xfrm>
          <a:prstGeom prst="rect">
            <a:avLst/>
          </a:prstGeom>
          <a:solidFill>
            <a:srgbClr val="DC2626"/>
          </a:solidFill>
          <a:ln/>
        </p:spPr>
      </p:sp>
      <p:sp>
        <p:nvSpPr>
          <p:cNvPr id="30" name="Shape 28"/>
          <p:cNvSpPr/>
          <p:nvPr/>
        </p:nvSpPr>
        <p:spPr>
          <a:xfrm>
            <a:off x="5102352" y="2907792"/>
            <a:ext cx="320040" cy="320040"/>
          </a:xfrm>
          <a:prstGeom prst="ellipse">
            <a:avLst/>
          </a:prstGeom>
          <a:solidFill>
            <a:srgbClr val="2563EB"/>
          </a:solidFill>
          <a:ln/>
        </p:spPr>
      </p:sp>
      <p:sp>
        <p:nvSpPr>
          <p:cNvPr id="31" name="Text 29"/>
          <p:cNvSpPr/>
          <p:nvPr/>
        </p:nvSpPr>
        <p:spPr>
          <a:xfrm>
            <a:off x="5102352" y="2907792"/>
            <a:ext cx="3200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5532120" y="2880360"/>
            <a:ext cx="3566160" cy="228600"/>
          </a:xfrm>
          <a:prstGeom prst="rect">
            <a:avLst/>
          </a:prstGeom>
          <a:noFill/>
          <a:ln/>
        </p:spPr>
        <p:txBody>
          <a:bodyPr wrap="square" lIns="0" tIns="0" rIns="0" bIns="0" rtlCol="0" anchor="ctr"/>
          <a:lstStyle/>
          <a:p>
            <a:pPr algn="l" indent="0" marL="0">
              <a:buNone/>
            </a:pPr>
            <a:r>
              <a:rPr lang="en-US" sz="1100" b="1" dirty="0">
                <a:solidFill>
                  <a:srgbClr val="1E3A8A"/>
                </a:solidFill>
                <a:latin typeface="Arial" pitchFamily="34" charset="0"/>
                <a:ea typeface="Arial" pitchFamily="34" charset="-122"/>
                <a:cs typeface="Arial" pitchFamily="34" charset="-120"/>
              </a:rPr>
              <a:t>Career Opportunities</a:t>
            </a:r>
            <a:endParaRPr lang="en-US" sz="1100" dirty="0"/>
          </a:p>
        </p:txBody>
      </p:sp>
      <p:sp>
        <p:nvSpPr>
          <p:cNvPr id="33" name="Text 31"/>
          <p:cNvSpPr/>
          <p:nvPr/>
        </p:nvSpPr>
        <p:spPr>
          <a:xfrm>
            <a:off x="5532120" y="3127248"/>
            <a:ext cx="3566160" cy="411480"/>
          </a:xfrm>
          <a:prstGeom prst="rect">
            <a:avLst/>
          </a:prstGeom>
          <a:noFill/>
          <a:ln/>
        </p:spPr>
        <p:txBody>
          <a:bodyPr wrap="square" lIns="0" tIns="0" rIns="0" bIns="0" rtlCol="0" anchor="ctr"/>
          <a:lstStyle/>
          <a:p>
            <a:pPr algn="l" indent="0" marL="0">
              <a:buNone/>
            </a:pPr>
            <a:r>
              <a:rPr lang="en-US" sz="1000" dirty="0">
                <a:solidFill>
                  <a:srgbClr val="374151"/>
                </a:solidFill>
                <a:latin typeface="Arial" pitchFamily="34" charset="0"/>
                <a:ea typeface="Arial" pitchFamily="34" charset="-122"/>
                <a:cs typeface="Arial" pitchFamily="34" charset="-120"/>
              </a:rPr>
              <a:t>Event management is dynamic field with diverse career paths in marketing, logistics, operations, and strategic planning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8A"/>
        </a:solidFill>
      </p:bgPr>
    </p:bg>
    <p:spTree>
      <p:nvGrpSpPr>
        <p:cNvPr id="1" name=""/>
        <p:cNvGrpSpPr/>
        <p:nvPr/>
      </p:nvGrpSpPr>
      <p:grpSpPr>
        <a:xfrm>
          <a:off x="0" y="0"/>
          <a:ext cx="0" cy="0"/>
          <a:chOff x="0" y="0"/>
          <a:chExt cx="0" cy="0"/>
        </a:xfrm>
      </p:grpSpPr>
      <p:sp>
        <p:nvSpPr>
          <p:cNvPr id="2" name="Shape 0"/>
          <p:cNvSpPr/>
          <p:nvPr/>
        </p:nvSpPr>
        <p:spPr>
          <a:xfrm>
            <a:off x="0" y="4686300"/>
            <a:ext cx="9144000" cy="457200"/>
          </a:xfrm>
          <a:prstGeom prst="rect">
            <a:avLst/>
          </a:prstGeom>
          <a:solidFill>
            <a:srgbClr val="DC2626"/>
          </a:solidFill>
          <a:ln/>
        </p:spPr>
      </p:sp>
      <p:sp>
        <p:nvSpPr>
          <p:cNvPr id="3" name="Text 1"/>
          <p:cNvSpPr/>
          <p:nvPr/>
        </p:nvSpPr>
        <p:spPr>
          <a:xfrm>
            <a:off x="457200" y="365760"/>
            <a:ext cx="8229600" cy="457200"/>
          </a:xfrm>
          <a:prstGeom prst="rect">
            <a:avLst/>
          </a:prstGeom>
          <a:noFill/>
          <a:ln/>
        </p:spPr>
        <p:txBody>
          <a:bodyPr wrap="square" lIns="0" tIns="0" rIns="0" bIns="0" rtlCol="0" anchor="ctr"/>
          <a:lstStyle/>
          <a:p>
            <a:pPr algn="l" indent="0" marL="0">
              <a:buNone/>
            </a:pPr>
            <a:r>
              <a:rPr lang="en-US" sz="4800" b="1" dirty="0">
                <a:solidFill>
                  <a:srgbClr val="FCD34D"/>
                </a:solidFill>
                <a:latin typeface="Arial" pitchFamily="34" charset="0"/>
                <a:ea typeface="Arial" pitchFamily="34" charset="-122"/>
                <a:cs typeface="Arial" pitchFamily="34" charset="-120"/>
              </a:rPr>
              <a:t>CONCLUSION</a:t>
            </a:r>
            <a:endParaRPr lang="en-US" sz="4800" dirty="0"/>
          </a:p>
        </p:txBody>
      </p:sp>
      <p:sp>
        <p:nvSpPr>
          <p:cNvPr id="4" name="Text 2"/>
          <p:cNvSpPr/>
          <p:nvPr/>
        </p:nvSpPr>
        <p:spPr>
          <a:xfrm>
            <a:off x="457200" y="1097280"/>
            <a:ext cx="8229600" cy="34747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Event marketing is a comprehensive discipline that extends far beyond simple event execution. It encompasses strategic planning, stakeholder engagement, resource management, and continuous improvement.</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FCD34D"/>
                </a:solidFill>
                <a:latin typeface="Arial" pitchFamily="34" charset="0"/>
                <a:ea typeface="Arial" pitchFamily="34" charset="-122"/>
                <a:cs typeface="Arial" pitchFamily="34" charset="-120"/>
              </a:rPr>
              <a:t>The three events studied demonstrate the remarkable diversity in event marketing approaches: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100" dirty="0">
                <a:solidFill>
                  <a:srgbClr val="FFFFFF"/>
                </a:solidFill>
                <a:latin typeface="Arial" pitchFamily="34" charset="0"/>
                <a:ea typeface="Arial" pitchFamily="34" charset="-122"/>
                <a:cs typeface="Arial" pitchFamily="34" charset="-120"/>
              </a:rPr>
              <a:t>• International Leather Expo: B2B focus driving trade and industry collaboration</a:t>
            </a:r>
            <a:endParaRPr lang="en-US" sz="1200" dirty="0"/>
          </a:p>
          <a:p>
            <a:pPr indent="0" marL="0">
              <a:buNone/>
            </a:pPr>
            <a:r>
              <a:rPr lang="en-US" sz="1100" dirty="0">
                <a:solidFill>
                  <a:srgbClr val="FFFFFF"/>
                </a:solidFill>
                <a:latin typeface="Arial" pitchFamily="34" charset="0"/>
                <a:ea typeface="Arial" pitchFamily="34" charset="-122"/>
                <a:cs typeface="Arial" pitchFamily="34" charset="-120"/>
              </a:rPr>
              <a:t>• Chennai Book Fair: Cultural celebration promoting literacy and community engagement</a:t>
            </a:r>
            <a:endParaRPr lang="en-US" sz="1200" dirty="0"/>
          </a:p>
          <a:p>
            <a:pPr indent="0" marL="0">
              <a:buNone/>
            </a:pPr>
            <a:r>
              <a:rPr lang="en-US" sz="1100" dirty="0">
                <a:solidFill>
                  <a:srgbClr val="FFFFFF"/>
                </a:solidFill>
                <a:latin typeface="Arial" pitchFamily="34" charset="0"/>
                <a:ea typeface="Arial" pitchFamily="34" charset="-122"/>
                <a:cs typeface="Arial" pitchFamily="34" charset="-120"/>
              </a:rPr>
              <a:t>• ED Pavilion: Educational initiative fostering entrepreneurship and innovation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FFFFFF"/>
                </a:solidFill>
                <a:latin typeface="Arial" pitchFamily="34" charset="0"/>
                <a:ea typeface="Arial" pitchFamily="34" charset="-122"/>
                <a:cs typeface="Arial" pitchFamily="34" charset="-120"/>
              </a:rPr>
              <a:t>Successful event management requires clear objectives, detailed planning, effective communication, and post-event evaluation. As India's economy grows, event marketing will play an increasingly vital role in business development and community engagement.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8A"/>
        </a:solidFill>
      </p:bgPr>
    </p:bg>
    <p:spTree>
      <p:nvGrpSpPr>
        <p:cNvPr id="1" name=""/>
        <p:cNvGrpSpPr/>
        <p:nvPr/>
      </p:nvGrpSpPr>
      <p:grpSpPr>
        <a:xfrm>
          <a:off x="0" y="0"/>
          <a:ext cx="0" cy="0"/>
          <a:chOff x="0" y="0"/>
          <a:chExt cx="0" cy="0"/>
        </a:xfrm>
      </p:grpSpPr>
      <p:sp>
        <p:nvSpPr>
          <p:cNvPr id="2" name="Shape 0"/>
          <p:cNvSpPr/>
          <p:nvPr/>
        </p:nvSpPr>
        <p:spPr>
          <a:xfrm>
            <a:off x="8686800" y="0"/>
            <a:ext cx="457200" cy="5143500"/>
          </a:xfrm>
          <a:prstGeom prst="rect">
            <a:avLst/>
          </a:prstGeom>
          <a:solidFill>
            <a:srgbClr val="DC2626"/>
          </a:solidFill>
          <a:ln/>
        </p:spPr>
      </p:sp>
      <p:sp>
        <p:nvSpPr>
          <p:cNvPr id="3" name="Text 1"/>
          <p:cNvSpPr/>
          <p:nvPr/>
        </p:nvSpPr>
        <p:spPr>
          <a:xfrm>
            <a:off x="457200" y="1371600"/>
            <a:ext cx="8229600" cy="731520"/>
          </a:xfrm>
          <a:prstGeom prst="rect">
            <a:avLst/>
          </a:prstGeom>
          <a:noFill/>
          <a:ln/>
        </p:spPr>
        <p:txBody>
          <a:bodyPr wrap="square" lIns="0" tIns="0" rIns="0" bIns="0" rtlCol="0" anchor="ctr"/>
          <a:lstStyle/>
          <a:p>
            <a:pPr algn="l" indent="0" marL="0">
              <a:buNone/>
            </a:pPr>
            <a:r>
              <a:rPr lang="en-US" sz="6000" b="1" dirty="0">
                <a:solidFill>
                  <a:srgbClr val="FCD34D"/>
                </a:solidFill>
                <a:latin typeface="Arial" pitchFamily="34" charset="0"/>
                <a:ea typeface="Arial" pitchFamily="34" charset="-122"/>
                <a:cs typeface="Arial" pitchFamily="34" charset="-120"/>
              </a:rPr>
              <a:t>THANK YOU</a:t>
            </a:r>
            <a:endParaRPr lang="en-US" sz="6000" dirty="0"/>
          </a:p>
        </p:txBody>
      </p:sp>
      <p:sp>
        <p:nvSpPr>
          <p:cNvPr id="4" name="Shape 2"/>
          <p:cNvSpPr/>
          <p:nvPr/>
        </p:nvSpPr>
        <p:spPr>
          <a:xfrm>
            <a:off x="457200" y="2194560"/>
            <a:ext cx="2743200" cy="45720"/>
          </a:xfrm>
          <a:prstGeom prst="rect">
            <a:avLst/>
          </a:prstGeom>
          <a:solidFill>
            <a:srgbClr val="FCD34D"/>
          </a:solidFill>
          <a:ln/>
        </p:spPr>
      </p:sp>
      <p:sp>
        <p:nvSpPr>
          <p:cNvPr id="5" name="Text 3"/>
          <p:cNvSpPr/>
          <p:nvPr/>
        </p:nvSpPr>
        <p:spPr>
          <a:xfrm>
            <a:off x="457200" y="2377440"/>
            <a:ext cx="8229600" cy="274320"/>
          </a:xfrm>
          <a:prstGeom prst="rect">
            <a:avLst/>
          </a:prstGeom>
          <a:noFill/>
          <a:ln/>
        </p:spPr>
        <p:txBody>
          <a:bodyPr wrap="square" lIns="0" tIns="0" rIns="0" bIns="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Event Marketing (UCM20602L)</a:t>
            </a:r>
            <a:endParaRPr lang="en-US" sz="1800" dirty="0"/>
          </a:p>
        </p:txBody>
      </p:sp>
      <p:sp>
        <p:nvSpPr>
          <p:cNvPr id="6" name="Text 4"/>
          <p:cNvSpPr/>
          <p:nvPr/>
        </p:nvSpPr>
        <p:spPr>
          <a:xfrm>
            <a:off x="457200" y="2743200"/>
            <a:ext cx="8229600" cy="228600"/>
          </a:xfrm>
          <a:prstGeom prst="rect">
            <a:avLst/>
          </a:prstGeom>
          <a:noFill/>
          <a:ln/>
        </p:spPr>
        <p:txBody>
          <a:bodyPr wrap="square" lIns="0" tIns="0" rIns="0" bIns="0" rtlCol="0" anchor="ctr"/>
          <a:lstStyle/>
          <a:p>
            <a:pPr algn="l" indent="0" marL="0">
              <a:buNone/>
            </a:pPr>
            <a:r>
              <a:rPr lang="en-US" sz="1600" i="1" dirty="0">
                <a:solidFill>
                  <a:srgbClr val="F3F4F6"/>
                </a:solidFill>
                <a:latin typeface="Arial" pitchFamily="34" charset="0"/>
                <a:ea typeface="Arial" pitchFamily="34" charset="-122"/>
                <a:cs typeface="Arial" pitchFamily="34" charset="-120"/>
              </a:rPr>
              <a:t>Project Report</a:t>
            </a:r>
            <a:endParaRPr lang="en-US" sz="1600" dirty="0"/>
          </a:p>
        </p:txBody>
      </p:sp>
      <p:sp>
        <p:nvSpPr>
          <p:cNvPr id="7" name="Text 5"/>
          <p:cNvSpPr/>
          <p:nvPr/>
        </p:nvSpPr>
        <p:spPr>
          <a:xfrm>
            <a:off x="457200" y="3200400"/>
            <a:ext cx="8229600" cy="22860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Prepared by: M. Sriram</a:t>
            </a:r>
            <a:endParaRPr lang="en-US" sz="1400" dirty="0"/>
          </a:p>
        </p:txBody>
      </p:sp>
      <p:sp>
        <p:nvSpPr>
          <p:cNvPr id="8" name="Text 6"/>
          <p:cNvSpPr/>
          <p:nvPr/>
        </p:nvSpPr>
        <p:spPr>
          <a:xfrm>
            <a:off x="457200" y="3520440"/>
            <a:ext cx="8229600" cy="22860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Registration: RA2031204020024</a:t>
            </a:r>
            <a:endParaRPr lang="en-US" sz="1400" dirty="0"/>
          </a:p>
        </p:txBody>
      </p:sp>
      <p:sp>
        <p:nvSpPr>
          <p:cNvPr id="9" name="Text 7"/>
          <p:cNvSpPr/>
          <p:nvPr/>
        </p:nvSpPr>
        <p:spPr>
          <a:xfrm>
            <a:off x="457200" y="3840480"/>
            <a:ext cx="8229600" cy="228600"/>
          </a:xfrm>
          <a:prstGeom prst="rect">
            <a:avLst/>
          </a:prstGeom>
          <a:noFill/>
          <a:ln/>
        </p:spPr>
        <p:txBody>
          <a:bodyPr wrap="square" lIns="0" tIns="0" rIns="0" bIns="0" rtlCol="0" anchor="ctr"/>
          <a:lstStyle/>
          <a:p>
            <a:pPr algn="l" indent="0" marL="0">
              <a:buNone/>
            </a:pPr>
            <a:r>
              <a:rPr lang="en-US" sz="1400" dirty="0">
                <a:solidFill>
                  <a:srgbClr val="FFFFFF"/>
                </a:solidFill>
                <a:latin typeface="Arial" pitchFamily="34" charset="0"/>
                <a:ea typeface="Arial" pitchFamily="34" charset="-122"/>
                <a:cs typeface="Arial" pitchFamily="34" charset="-120"/>
              </a:rPr>
              <a:t>Guided by: Mrs. Anandhi K</a:t>
            </a:r>
            <a:endParaRPr lang="en-US" sz="1400" dirty="0"/>
          </a:p>
        </p:txBody>
      </p:sp>
      <p:sp>
        <p:nvSpPr>
          <p:cNvPr id="10" name="Text 8"/>
          <p:cNvSpPr/>
          <p:nvPr/>
        </p:nvSpPr>
        <p:spPr>
          <a:xfrm>
            <a:off x="457200" y="4160520"/>
            <a:ext cx="8229600" cy="228600"/>
          </a:xfrm>
          <a:prstGeom prst="rect">
            <a:avLst/>
          </a:prstGeom>
          <a:noFill/>
          <a:ln/>
        </p:spPr>
        <p:txBody>
          <a:bodyPr wrap="square" lIns="0" tIns="0" rIns="0" bIns="0" rtlCol="0" anchor="ctr"/>
          <a:lstStyle/>
          <a:p>
            <a:pPr algn="l" indent="0" marL="0">
              <a:buNone/>
            </a:pPr>
            <a:r>
              <a:rPr lang="en-US" sz="1400" dirty="0">
                <a:solidFill>
                  <a:srgbClr val="F3F4F6"/>
                </a:solidFill>
                <a:latin typeface="Arial" pitchFamily="34" charset="0"/>
                <a:ea typeface="Arial" pitchFamily="34" charset="-122"/>
                <a:cs typeface="Arial" pitchFamily="34" charset="-120"/>
              </a:rPr>
              <a:t>SRM Institute of Science &amp; Technology</a:t>
            </a:r>
            <a:endParaRPr lang="en-US" sz="1400" dirty="0"/>
          </a:p>
        </p:txBody>
      </p:sp>
      <p:sp>
        <p:nvSpPr>
          <p:cNvPr id="11" name="Text 9"/>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1400" b="1" dirty="0">
                <a:solidFill>
                  <a:srgbClr val="FCD34D"/>
                </a:solidFill>
                <a:latin typeface="Arial" pitchFamily="34" charset="0"/>
                <a:ea typeface="Arial" pitchFamily="34" charset="-122"/>
                <a:cs typeface="Arial" pitchFamily="34" charset="-120"/>
              </a:rPr>
              <a:t>April 2023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Marketing Report</dc:title>
  <dc:subject>PptxGenJS Presentation</dc:subject>
  <dc:creator>Sriram</dc:creator>
  <cp:lastModifiedBy>Sriram</cp:lastModifiedBy>
  <cp:revision>1</cp:revision>
  <dcterms:created xsi:type="dcterms:W3CDTF">2026-02-19T03:56:12Z</dcterms:created>
  <dcterms:modified xsi:type="dcterms:W3CDTF">2026-02-19T03:56:12Z</dcterms:modified>
</cp:coreProperties>
</file>