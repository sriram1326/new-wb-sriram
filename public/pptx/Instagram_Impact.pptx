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Age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Respondents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0F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18–25</c:v>
                  </c:pt>
                  <c:pt idx="1">
                    <c:v>25–35</c:v>
                  </c:pt>
                  <c:pt idx="2">
                    <c:v>35–45</c:v>
                  </c:pt>
                  <c:pt idx="3">
                    <c:v>Above 45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101</c:v>
                </c:pt>
                <c:pt idx="1">
                  <c:v>6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0F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Gender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C4899"/>
              </a:solidFill>
              <a:effectLst/>
            </c:spPr>
          </c:dPt>
          <c:dPt>
            <c:idx val="1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Female (71.8%)</c:v>
                </c:pt>
                <c:pt idx="1">
                  <c:v>Male (27.3%)</c:v>
                </c:pt>
                <c:pt idx="2">
                  <c:v>Prefer Not to Say (0.9%)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79</c:v>
                </c:pt>
                <c:pt idx="1">
                  <c:v>30</c:v>
                </c:pt>
                <c:pt idx="2">
                  <c:v>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Instagram Usage Frequency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Usage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0F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Daily</c:v>
                  </c:pt>
                  <c:pt idx="1">
                    <c:v>Few times/week</c:v>
                  </c:pt>
                  <c:pt idx="2">
                    <c:v>Few times/month</c:v>
                  </c:pt>
                  <c:pt idx="3">
                    <c:v>Rarely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</c:v>
                </c:pt>
                <c:pt idx="1">
                  <c:v>9</c:v>
                </c:pt>
                <c:pt idx="2">
                  <c:v>2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0F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Frequency of Seeing Influencer Posts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Exposure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0F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Very frequently</c:v>
                  </c:pt>
                  <c:pt idx="1">
                    <c:v>Somewhat frequently</c:v>
                  </c:pt>
                  <c:pt idx="2">
                    <c:v>Rarely</c:v>
                  </c:pt>
                  <c:pt idx="3">
                    <c:v>Never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48</c:v>
                </c:pt>
                <c:pt idx="2">
                  <c:v>10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0F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Likelihood to Purchase via Influencer Rec.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0F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Very Likely</c:v>
                  </c:pt>
                  <c:pt idx="1">
                    <c:v>Likely</c:v>
                  </c:pt>
                  <c:pt idx="2">
                    <c:v>Neutral</c:v>
                  </c:pt>
                  <c:pt idx="3">
                    <c:v>Unlikely</c:v>
                  </c:pt>
                  <c:pt idx="4">
                    <c:v>Very Unlikely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16</c:v>
                </c:pt>
                <c:pt idx="2">
                  <c:v>44</c:v>
                </c:pt>
                <c:pt idx="3">
                  <c:v>20</c:v>
                </c:pt>
                <c:pt idx="4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0F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Trust on Influencers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Trust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F97316"/>
              </a:solidFill>
              <a:effectLst/>
            </c:spPr>
          </c:dPt>
          <c:dPt>
            <c:idx val="4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Completely Trust</c:v>
                </c:pt>
                <c:pt idx="1">
                  <c:v>Somewhat Trust</c:v>
                </c:pt>
                <c:pt idx="2">
                  <c:v>Neutral</c:v>
                </c:pt>
                <c:pt idx="3">
                  <c:v>Somewhat Distrust</c:v>
                </c:pt>
                <c:pt idx="4">
                  <c:v>Distrust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6</c:v>
                </c:pt>
                <c:pt idx="1">
                  <c:v>37</c:v>
                </c:pt>
                <c:pt idx="2">
                  <c:v>53</c:v>
                </c:pt>
                <c:pt idx="3">
                  <c:v>12</c:v>
                </c:pt>
                <c:pt idx="4">
                  <c:v>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Most Engaged Influencer Categories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 %</c:v>
                </c:pt>
              </c:strCache>
            </c:strRef>
          </c:tx>
          <c:spPr>
            <a:solidFill>
              <a:srgbClr val="EC48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0F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Fashion &amp; Beauty</c:v>
                  </c:pt>
                  <c:pt idx="1">
                    <c:v>Food &amp; Cooking</c:v>
                  </c:pt>
                  <c:pt idx="2">
                    <c:v>Travel &amp; Lifestyle</c:v>
                  </c:pt>
                  <c:pt idx="3">
                    <c:v>Fitness &amp; Wellness</c:v>
                  </c:pt>
                  <c:pt idx="4">
                    <c:v>Others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71.8</c:v>
                </c:pt>
                <c:pt idx="1">
                  <c:v>48.2</c:v>
                </c:pt>
                <c:pt idx="2">
                  <c:v>37.3</c:v>
                </c:pt>
                <c:pt idx="3">
                  <c:v>28.2</c:v>
                </c:pt>
                <c:pt idx="4">
                  <c:v>14.5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0F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Key Factors Influencing Purchase Decision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Factors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bubble3D val="0"/>
            <c:spPr>
              <a:solidFill>
                <a:srgbClr val="EC4899"/>
              </a:solidFill>
              <a:effectLst/>
            </c:spPr>
          </c:dPt>
          <c:dPt>
            <c:idx val="2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Product Quality (62.7%)</c:v>
                </c:pt>
                <c:pt idx="1">
                  <c:v>Credibility (18.2%)</c:v>
                </c:pt>
                <c:pt idx="2">
                  <c:v>Price (14.5%)</c:v>
                </c:pt>
                <c:pt idx="3">
                  <c:v>Popularity (4.5%)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62.7</c:v>
                </c:pt>
                <c:pt idx="1">
                  <c:v>18.2</c:v>
                </c:pt>
                <c:pt idx="2">
                  <c:v>14.5</c:v>
                </c:pt>
                <c:pt idx="3">
                  <c:v>4.5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More Effective Marketing Type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Effectiveness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0F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Influencer Marketing</c:v>
                  </c:pt>
                  <c:pt idx="1">
                    <c:v>Traditional Marketing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0F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Long-Term Impact on Purchase Behaviour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0F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Strongly Agree</c:v>
                  </c:pt>
                  <c:pt idx="1">
                    <c:v>Agree</c:v>
                  </c:pt>
                  <c:pt idx="2">
                    <c:v>Neutral</c:v>
                  </c:pt>
                  <c:pt idx="3">
                    <c:v>Disagree</c:v>
                  </c:pt>
                  <c:pt idx="4">
                    <c:v>Strongly Disagree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</c:v>
                </c:pt>
                <c:pt idx="1">
                  <c:v>29</c:v>
                </c:pt>
                <c:pt idx="2">
                  <c:v>46</c:v>
                </c:pt>
                <c:pt idx="3">
                  <c:v>8</c:v>
                </c:pt>
                <c:pt idx="4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0F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Overall Perception of Instagram Influencer Marketing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Perception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Positive (46.4%)</c:v>
                </c:pt>
                <c:pt idx="1">
                  <c:v>Neutral (46.4%)</c:v>
                </c:pt>
                <c:pt idx="2">
                  <c:v>Negative (7.3%)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51</c:v>
                </c:pt>
                <c:pt idx="1">
                  <c:v>51</c:v>
                </c:pt>
                <c:pt idx="2">
                  <c:v>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chart" Target="/ppt/charts/chart1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709928"/>
            <a:ext cx="201168" cy="17145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201168" cy="1714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2286000"/>
            <a:ext cx="2560320" cy="2560320"/>
          </a:xfrm>
          <a:prstGeom prst="ellipse">
            <a:avLst/>
          </a:prstGeom>
          <a:solidFill>
            <a:srgbClr val="EC4899">
              <a:alpha val="12000"/>
            </a:srgbClr>
          </a:solidFill>
          <a:ln w="12700">
            <a:solidFill>
              <a:srgbClr val="EC4899">
                <a:alpha val="1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3474720"/>
            <a:ext cx="1645920" cy="1645920"/>
          </a:xfrm>
          <a:prstGeom prst="ellipse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C4899"/>
                </a:solidFill>
              </a:rPr>
              <a:t>RESEARCH STUDY  •  SRIRAM 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8229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Study on the Impact of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Instagram Influencer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57200" y="22402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457200" y="3182112"/>
            <a:ext cx="50292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on Customer Purchase Intention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110 Respondents  •  Primary Survey  •  Quantitative Research  •  SRM University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731520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241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</a:rPr>
              <a:t>Objective: To examine the impact of Instagram influencer marketing on customer purchase intention — investigating trust, credibility, effectiveness vs. traditional methods, and long-term behaviour.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828800"/>
            <a:ext cx="27432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9842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35"/>
                </a:solidFill>
              </a:rPr>
              <a:t>🎯  Purchase Intention Factors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4048" y="239572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Identify what drives customers to buy based on influencer recommendations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82112" y="182880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1828800"/>
            <a:ext cx="2743200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842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35"/>
                </a:solidFill>
              </a:rPr>
              <a:t>⚖️  vs Traditional Marketing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91840" y="239572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Investigate effectiveness of Instagram influencer vs TV, print, billboards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9904" y="182880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1828800"/>
            <a:ext cx="274320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19842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35"/>
                </a:solidFill>
              </a:rPr>
              <a:t>🤝  Trust &amp; Credibility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99632" y="239572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Assess the role of trust in influencer-driven purchase behaviour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29184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291840"/>
            <a:ext cx="274320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44728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35"/>
                </a:solidFill>
              </a:rPr>
              <a:t>📈  Long-Term Potential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84048" y="385876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Explore whether influencer marketing enhances lasting purchase behaviour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82112" y="329184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82112" y="3291840"/>
            <a:ext cx="27432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344728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35"/>
                </a:solidFill>
              </a:rPr>
              <a:t>📋  Methodology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291840" y="385876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110 respondents via Google Forms survey — quantitative, percentile + chi-square analysis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9904" y="329184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9904" y="3291840"/>
            <a:ext cx="2743200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9632" y="344728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35"/>
                </a:solidFill>
              </a:rPr>
              <a:t>👥  Sample Profile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99632" y="385876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Predominantly 18–25 age group, students and college peers, primarily female (71.8%)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RESPONDENT PROFILE  —  110 RESPONDENTS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914400"/>
          <a:ext cx="42062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7033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274320" y="3703320"/>
            <a:ext cx="201168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38221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91.8%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365760" y="4343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Aged 18–25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450592" y="37033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450592" y="3703320"/>
            <a:ext cx="2011680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542032" y="38221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71.8%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2542032" y="4343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Female respondents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26864" y="37033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26864" y="3703320"/>
            <a:ext cx="201168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718304" y="38221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89.1%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4718304" y="4343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Students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803136" y="37033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803136" y="3703320"/>
            <a:ext cx="201168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894576" y="38221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86.4%</a:t>
            </a:r>
            <a:endParaRPr lang="en-US" sz="2800" dirty="0"/>
          </a:p>
        </p:txBody>
      </p:sp>
      <p:sp>
        <p:nvSpPr>
          <p:cNvPr id="21" name="Text 17"/>
          <p:cNvSpPr/>
          <p:nvPr/>
        </p:nvSpPr>
        <p:spPr>
          <a:xfrm>
            <a:off x="6894576" y="4343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Use Instagram daily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INSTAGRAM USAGE &amp; INFLUENCER EXPOSURE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91440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42900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274320" y="3429000"/>
            <a:ext cx="109728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02920" y="350215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86.4%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554480" y="354787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use Instagram daily — highly active audience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09160" y="342900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09160" y="3429000"/>
            <a:ext cx="109728" cy="8229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937760" y="350215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87.6%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989320" y="354787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encounter influencer posts very or somewhat frequently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11480" y="448056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F1A"/>
                </a:solidFill>
              </a:rPr>
              <a:t>💡  Instagram has a deeply engaged daily user base — brands and influencers have consistent, high-frequency access to their target audience.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PURCHASE INTENTION &amp; TRUST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0292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394960" y="914400"/>
          <a:ext cx="34747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566160"/>
            <a:ext cx="2743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274320" y="3566160"/>
            <a:ext cx="27432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367588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188720" y="37033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Neutral on purchasing — neither likely nor unlikely to buy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200400" y="3566160"/>
            <a:ext cx="2743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00400" y="3566160"/>
            <a:ext cx="27432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91840" y="367588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25.4%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114800" y="37033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Likely or Very Likely to purchase — a significant addressable segment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26480" y="3566160"/>
            <a:ext cx="2743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3566160"/>
            <a:ext cx="274320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17920" y="367588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48.2%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7040880" y="37033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Neutral on trust — trust is still being earned by influencers broadly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1A"/>
                </a:solidFill>
              </a:rPr>
              <a:t>💡  The largest segment is neutral — an opportunity. Building influencer trust through authentic content can convert neutral consumers to buyers.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INFLUENCER TYPES &amp; ENGAGEMENT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960120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960120"/>
            <a:ext cx="32918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0" y="10881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35"/>
                </a:solidFill>
              </a:rPr>
              <a:t>Macro Influencer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0" y="108813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46.4%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715000" y="143560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10K–1M followers  •  Most trusted type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77840" y="1901952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1901952"/>
            <a:ext cx="3291840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00" y="2029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35"/>
                </a:solidFill>
              </a:rPr>
              <a:t>Mega Influencer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0" y="20299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C4899"/>
                </a:solidFill>
              </a:rPr>
              <a:t>25.5%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715000" y="23774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1M+ followers  •  High visibility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577840" y="2843784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2843784"/>
            <a:ext cx="32918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500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35"/>
                </a:solidFill>
              </a:rPr>
              <a:t>Celebrity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72400" y="2971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17.3%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715000" y="33192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Public figures  •  Brand association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577840" y="3785616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577840" y="3785616"/>
            <a:ext cx="32918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15000" y="3913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35"/>
                </a:solidFill>
              </a:rPr>
              <a:t>Micro Influencer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772400" y="39136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10.9%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715000" y="426110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Under 10K  •  Niche, authentic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74320" y="3840480"/>
            <a:ext cx="8595360" cy="457200"/>
          </a:xfrm>
          <a:prstGeom prst="rect">
            <a:avLst/>
          </a:prstGeom>
          <a:solidFill>
            <a:srgbClr val="FDF2F8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" y="390448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F1A"/>
                </a:solidFill>
              </a:rPr>
              <a:t>💡  Fashion &amp; Beauty dominate. Macro-influencers (10K–1M) are the most trusted tier — the sweet spot between reach and authenticity.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DRIVES PURCHASE DECISIONS?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1148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914400"/>
          <a:ext cx="41148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754880" y="292608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754880" y="2926080"/>
            <a:ext cx="19202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864608" y="304495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35"/>
                </a:solidFill>
              </a:rPr>
              <a:t>Why Influencer Wins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864608" y="3401568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52.7%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— better audience understanding
</a:t>
            </a:r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31.8%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— more loyal &amp; engaged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6949440" y="292608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949440" y="2926080"/>
            <a:ext cx="1920240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059168" y="304495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35"/>
                </a:solidFill>
              </a:rPr>
              <a:t>Why Traditional Wins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059168" y="3401568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41.8%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— more reliable &amp; trustworthy
</a:t>
            </a:r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38.2%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— wider reach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74320" y="4480560"/>
            <a:ext cx="8595360" cy="41148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11480" y="4526280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1A"/>
                </a:solidFill>
              </a:rPr>
              <a:t>💡  Product quality (62.7%) — not the influencer — drives purchase decisions. Influencer marketing wins 70:30 over traditional due to targeted, relatable content.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TRUST, CREDIBILITY &amp; ETHICS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064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35"/>
                </a:solidFill>
              </a:rPr>
              <a:t>Trust importance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91840" y="106984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92.7%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4904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92.7% say trust is extremely/very/moderately important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4160520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064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35"/>
                </a:solidFill>
              </a:rPr>
              <a:t>Unfollowed for lack of authenticity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26680" y="106984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46320" y="14904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39.1% have; 40.9% might unfollow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86000"/>
            <a:ext cx="416052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43230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35"/>
                </a:solidFill>
              </a:rPr>
              <a:t>Avoid non-genuine influencers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39572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11480" y="28163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35.5% actively avoid; 34.5% bothered a little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28600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286000"/>
            <a:ext cx="416052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43230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35"/>
                </a:solidFill>
              </a:rPr>
              <a:t>Consider ethics before purchase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26680" y="239572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73.6%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46320" y="28163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49.1% occasionally consider; 24.5% almost every time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61188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11880"/>
            <a:ext cx="416052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7581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35"/>
                </a:solidFill>
              </a:rPr>
              <a:t>Disclosure of sponsored posts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372160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86.4%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11480" y="414223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86.4% consider it moderately to extremely important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61188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11880"/>
            <a:ext cx="416052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7581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35"/>
                </a:solidFill>
              </a:rPr>
              <a:t>Content quality matters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26680" y="372160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79.1%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846320" y="414223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79.1% say very or somewhat important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FDF2F8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608576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1A"/>
                </a:solidFill>
              </a:rPr>
              <a:t>💡  Authenticity is everything. Audiences are hyper-aware of fake endorsements — transparent, disclosure-first influencer partnerships are the only sustainable model.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LONG-TERM IMPACT &amp; OVERALL PERCEPTION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2976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846320" y="914400"/>
          <a:ext cx="39319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566160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274320" y="3566160"/>
            <a:ext cx="109728" cy="8412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02920" y="363016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40.9%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463040" y="367588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Agree/Strongly agree on long-term impact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200400" y="3566160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00400" y="3566160"/>
            <a:ext cx="109728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429000" y="363016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43.6%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389120" y="367588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Neutral on recommending products to others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3566160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3566160"/>
            <a:ext cx="109728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55080" y="363016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92.7%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7315200" y="367588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Positive or Neutral perception overall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11480" y="466344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1A"/>
                </a:solidFill>
              </a:rPr>
              <a:t>💡  92.7% hold positive or neutral views — a strong foundation. The goal is converting neutrals to advocates through consistent, trustworthy content.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709928"/>
            <a:ext cx="201168" cy="17145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201168" cy="1714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-457200"/>
            <a:ext cx="4114800" cy="41148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2743200"/>
            <a:ext cx="2286000" cy="2286000"/>
          </a:xfrm>
          <a:prstGeom prst="ellipse">
            <a:avLst/>
          </a:prstGeom>
          <a:solidFill>
            <a:srgbClr val="EC4899">
              <a:alpha val="12000"/>
            </a:srgbClr>
          </a:solidFill>
          <a:ln w="12700">
            <a:solidFill>
              <a:srgbClr val="EC4899">
                <a:alpha val="17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C4899"/>
                </a:solidFill>
              </a:rPr>
              <a:t>FINDINGS &amp; STRATEGIC RECOMMENDATIONS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21792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Conclusions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841248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63624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63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16002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</a:rPr>
              <a:t>Product Quality is King: 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34640" y="16002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Influencer value comes from showcasing product quality (62.7%). Brands must ensure the product delivers — the influencer amplifies, but cannot replace substance.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185416"/>
            <a:ext cx="841248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240280"/>
            <a:ext cx="457200" cy="45720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22768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C4899"/>
                </a:solidFill>
              </a:rPr>
              <a:t>Target Macro-Influencers: 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834640" y="2276856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46.4% trust macro-influencers most (10K–1M followers). They offer optimal reach with retained authenticity — the highest-ROI influencer tier.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862072"/>
            <a:ext cx="841248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916936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916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2953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</a:rPr>
              <a:t>Mandatory Disclosure Policy: 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834640" y="295351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86.4% say disclosure is moderately to extremely important. Transparent sponsorship labelling is non-negotiable for sustainable trust-building.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538728"/>
            <a:ext cx="841248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593592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593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" y="3630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</a:rPr>
              <a:t>Convert the Neutral Majority: 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834640" y="363016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40%+ are neutral on purchasing and trust. Targeted content strategies and consistent authentic posting can unlock this majority for conversion.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215384"/>
            <a:ext cx="841248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2702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" y="43068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Fashion &amp; Beauty Lead: 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834640" y="4306824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71.8% engage with fashion/beauty influencers. Brands in adjacent categories should leverage these creators for cross-category audience capture.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Instagram Influencer Marketing – Impact on Customer Purchase Intention</dc:title>
  <dc:subject>PptxGenJS Presentation</dc:subject>
  <dc:creator>PptxGenJS</dc:creator>
  <cp:lastModifiedBy>PptxGenJS</cp:lastModifiedBy>
  <cp:revision>1</cp:revision>
  <dcterms:created xsi:type="dcterms:W3CDTF">2026-02-18T10:10:12Z</dcterms:created>
  <dcterms:modified xsi:type="dcterms:W3CDTF">2026-02-18T10:10:12Z</dcterms:modified>
</cp:coreProperties>
</file>